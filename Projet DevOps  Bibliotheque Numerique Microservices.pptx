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6" r:id="rId5"/>
    <p:sldId id="258" r:id="rId6"/>
    <p:sldId id="260" r:id="rId7"/>
    <p:sldId id="268" r:id="rId8"/>
    <p:sldId id="269" r:id="rId9"/>
    <p:sldId id="270" r:id="rId10"/>
    <p:sldId id="271" r:id="rId11"/>
    <p:sldId id="281" r:id="rId12"/>
    <p:sldId id="273" r:id="rId13"/>
    <p:sldId id="272" r:id="rId14"/>
    <p:sldId id="274" r:id="rId15"/>
    <p:sldId id="275" r:id="rId16"/>
    <p:sldId id="276" r:id="rId17"/>
    <p:sldId id="277" r:id="rId18"/>
    <p:sldId id="259" r:id="rId19"/>
    <p:sldId id="282" r:id="rId20"/>
    <p:sldId id="283" r:id="rId21"/>
    <p:sldId id="285" r:id="rId22"/>
    <p:sldId id="284" r:id="rId23"/>
    <p:sldId id="278" r:id="rId24"/>
    <p:sldId id="279" r:id="rId25"/>
    <p:sldId id="280" r:id="rId26"/>
    <p:sldId id="261" r:id="rId27"/>
    <p:sldId id="265" r:id="rId2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4" autoAdjust="0"/>
    <p:restoredTop sz="94660"/>
  </p:normalViewPr>
  <p:slideViewPr>
    <p:cSldViewPr snapToGrid="0">
      <p:cViewPr>
        <p:scale>
          <a:sx n="110" d="100"/>
          <a:sy n="110" d="100"/>
        </p:scale>
        <p:origin x="1392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9D4850-3137-F8B9-62A3-DA518D196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BEFA62-A14E-4251-42AE-79F9DC86F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BABB67-D07D-0B5D-A444-638A4DD9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F079FF-78EB-38D7-BC7D-876C5324B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A219F9-6ABE-F133-8D87-E257914A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44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461603-8F27-876B-9D0D-6394943D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72138B-A413-46E8-32DA-A22152551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668E81-ED84-8CAE-8EB5-011392327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670917-ADA4-CC9A-BC95-0644B58A2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4BC100-ED1F-CB0E-DFCF-560AEAE66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621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734F97-6B8D-8CEC-B965-C62887FF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CDCB65-61E9-6C8A-142C-7EC23D2EC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2637C4-4946-009D-010B-A5CDBB7D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4D0D00-F0FF-57E6-C9B0-721CCCD6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B66FF1-D41F-F935-3F07-C479CD825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5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898094-CB7E-E4E3-2A61-EA999803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F1A55E-3BA3-50B8-F3ED-1355FC899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E2B1C0-9A89-714E-341F-E05C3FFCF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6D2970A-852B-3207-7DC8-3E32AD8B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2C96D5-2606-762F-3946-80EA82FB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E0CBE3-BA61-ED2A-832E-47F7133E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025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984EF-F4A1-110B-210F-C2C9B4EB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92B02B-279F-EB01-F47E-1032F3D7E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C15E3E7-4C12-6EF5-DB27-28D8F8148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9AAA4B1-93B4-F361-C246-6311D1120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D15A72-9365-2DB9-8DF2-381F64E31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71A4407-7FB4-A953-1EA9-5E82E6214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5E4B60-514E-4A2A-FFBB-56F239A6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8CC9F9D-FEB6-94CB-8812-B3C69E0F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81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3E92D4-6557-A864-E096-20E507B60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1C883D-6F0E-D8B9-7D38-44C95C7DF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DCF1E13-BEC2-6336-26EE-E6AC9B07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A68AE9-1036-E746-5AA8-FB804B57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077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6E95CD-2156-4773-3B67-2AE41DF6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8F9A7E9-B1A2-5C15-C0B8-D38C690F7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5BC04F-5EED-9A55-D049-D5633F5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47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029EE8-705D-5611-E5D9-6184A746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1A9837-7F8C-DF81-5AEC-8340FBF69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06CEC8-92EC-41ED-02B3-055AA1BCD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E371C2-3557-7CD4-08F0-D2EFE769D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D6B33C-D397-CAF3-BA39-E6420415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D8A8AF-E9B1-2EF5-BD07-323B6968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899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9BCA1B-3ABD-2E7E-011D-5B8B0B67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EFAA7A6-635E-9221-5F5D-B4C0885D38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4B6B0A9-2009-4F1B-3041-5D5856223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E8D4FBB-676F-3E53-1223-1E9DFC032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E246290-4805-50F0-9E8C-0F2810C6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1967D9-F26C-9DE7-4524-127E7345B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612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006153-6533-476B-33CA-E1B25D98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41CAF0-615A-7134-8BAA-E5D3F2F72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6520B1-55ED-D3CD-61E1-B333607A1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77A4F7-59C6-665E-A2BE-4B8F2DA5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22A1A0-5373-171E-5958-8D511F80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5605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583F33-32B4-FC39-BD4D-D54B30B8A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A6F4058-37BD-F301-EBBE-920DA2841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916F9E-7EB0-B2C0-8827-EB9329BA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BAEF46-CD24-136D-F796-F9F63282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DC5C67-70CE-CA6E-6FAF-4644B6C7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3798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31D9F7-DD2D-ACB4-A8B3-B97EB90AA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38F385-69B9-75EE-07DB-3FA3F05D81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3172E9-752D-E63C-E212-2A37697F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3251D0-6836-D6DF-839F-C14B16B64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875759A-CF5E-ABD2-322C-08052D15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0389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7254C48-9E11-7F9E-CF96-6702539F9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7876AD-6556-E0B1-4EAF-D6322D1A2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C75D23-3344-1D78-A7AC-DFB9FD006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D82F5-31AC-488C-AA74-F470A5E83E0B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99204B-9AA2-72BA-FE77-361F08D0C8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AED0AC-F30C-F6CE-D8E0-B3626EECD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5C338-0BD7-4683-B3D7-D7753D5E86D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151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26356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" name="Oval 12"/>
          <p:cNvSpPr/>
          <p:nvPr/>
        </p:nvSpPr>
        <p:spPr>
          <a:xfrm>
            <a:off x="8229600" y="228600"/>
            <a:ext cx="914400" cy="9144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750800" y="1971800"/>
            <a:ext cx="7772400" cy="14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lang="en-GB" sz="4400" b="1" dirty="0">
                <a:solidFill>
                  <a:srgbClr val="FFFFFF"/>
                </a:solidFill>
                <a:latin typeface="Calibri"/>
              </a:rPr>
              <a:t>RAPPORT DE PROJET DEVOPS 	</a:t>
            </a:r>
            <a:r>
              <a:rPr lang="en-GB" sz="3200" b="1" dirty="0">
                <a:solidFill>
                  <a:srgbClr val="FFFFFF"/>
                </a:solidFill>
                <a:latin typeface="Calibri"/>
              </a:rPr>
              <a:t>Bibliothèque Numérique Microservices</a:t>
            </a:r>
            <a:endParaRPr lang="fr-FR"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20040" y="228600"/>
            <a:ext cx="3241766" cy="13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r>
              <a:rPr lang="en-GB" sz="1700" dirty="0">
                <a:solidFill>
                  <a:srgbClr val="CADCFC"/>
                </a:solidFill>
                <a:latin typeface="Calibri"/>
              </a:rPr>
              <a:t>Dakar Institute of Technology (DIT) </a:t>
            </a:r>
          </a:p>
          <a:p>
            <a:r>
              <a:rPr lang="en-GB" sz="1700" dirty="0">
                <a:solidFill>
                  <a:srgbClr val="CADCFC"/>
                </a:solidFill>
                <a:latin typeface="Calibri"/>
              </a:rPr>
              <a:t>Examen DevOps</a:t>
            </a:r>
          </a:p>
          <a:p>
            <a:r>
              <a:rPr lang="en-GB" sz="1700" dirty="0">
                <a:solidFill>
                  <a:srgbClr val="CADCFC"/>
                </a:solidFill>
                <a:latin typeface="Calibri"/>
              </a:rPr>
              <a:t> Bibliothèque Numérique DIT </a:t>
            </a:r>
          </a:p>
          <a:p>
            <a:r>
              <a:rPr lang="en-GB" sz="1700" dirty="0">
                <a:solidFill>
                  <a:srgbClr val="CADCFC"/>
                </a:solidFill>
                <a:latin typeface="Calibri"/>
              </a:rPr>
              <a:t>Réalisé par : Groupe 4</a:t>
            </a:r>
          </a:p>
          <a:p>
            <a:r>
              <a:rPr lang="en-GB" sz="1700" dirty="0">
                <a:solidFill>
                  <a:srgbClr val="CADCFC"/>
                </a:solidFill>
                <a:latin typeface="Calibri"/>
              </a:rPr>
              <a:t>Année académique : 2025-2026</a:t>
            </a:r>
            <a:endParaRPr lang="fr-FR" sz="1700" dirty="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16" name="Oval 16"/>
          <p:cNvSpPr/>
          <p:nvPr/>
        </p:nvSpPr>
        <p:spPr>
          <a:xfrm>
            <a:off x="685800" y="4632885"/>
            <a:ext cx="130000" cy="13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/>
          <p:cNvSpPr txBox="1"/>
          <p:nvPr/>
        </p:nvSpPr>
        <p:spPr>
          <a:xfrm>
            <a:off x="935800" y="4582885"/>
            <a:ext cx="360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 dirty="0">
                <a:solidFill>
                  <a:srgbClr val="FFFFFF"/>
                </a:solidFill>
                <a:latin typeface="Calibri"/>
              </a:rPr>
              <a:t>1. Prénom NOM</a:t>
            </a:r>
          </a:p>
        </p:txBody>
      </p:sp>
      <p:sp>
        <p:nvSpPr>
          <p:cNvPr id="18" name="Oval 18"/>
          <p:cNvSpPr/>
          <p:nvPr/>
        </p:nvSpPr>
        <p:spPr>
          <a:xfrm>
            <a:off x="4495800" y="4632885"/>
            <a:ext cx="130000" cy="13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4745800" y="4582885"/>
            <a:ext cx="360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>
                <a:solidFill>
                  <a:srgbClr val="FFFFFF"/>
                </a:solidFill>
                <a:latin typeface="Calibri"/>
              </a:rPr>
              <a:t>2. Prénom NOM</a:t>
            </a:r>
          </a:p>
        </p:txBody>
      </p:sp>
      <p:sp>
        <p:nvSpPr>
          <p:cNvPr id="20" name="Oval 20"/>
          <p:cNvSpPr/>
          <p:nvPr/>
        </p:nvSpPr>
        <p:spPr>
          <a:xfrm>
            <a:off x="685800" y="5166935"/>
            <a:ext cx="130000" cy="13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935800" y="5116935"/>
            <a:ext cx="360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>
                <a:solidFill>
                  <a:srgbClr val="FFFFFF"/>
                </a:solidFill>
                <a:latin typeface="Calibri"/>
              </a:rPr>
              <a:t>3. Prénom NOM</a:t>
            </a:r>
          </a:p>
        </p:txBody>
      </p:sp>
      <p:sp>
        <p:nvSpPr>
          <p:cNvPr id="22" name="Oval 22"/>
          <p:cNvSpPr/>
          <p:nvPr/>
        </p:nvSpPr>
        <p:spPr>
          <a:xfrm>
            <a:off x="4495800" y="5166935"/>
            <a:ext cx="130000" cy="13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Box 23"/>
          <p:cNvSpPr txBox="1"/>
          <p:nvPr/>
        </p:nvSpPr>
        <p:spPr>
          <a:xfrm>
            <a:off x="4745800" y="5116935"/>
            <a:ext cx="360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>
                <a:solidFill>
                  <a:srgbClr val="FFFFFF"/>
                </a:solidFill>
                <a:latin typeface="Calibri"/>
              </a:rPr>
              <a:t>4. Prénom NOM</a:t>
            </a:r>
          </a:p>
        </p:txBody>
      </p:sp>
      <p:sp>
        <p:nvSpPr>
          <p:cNvPr id="24" name="Oval 24"/>
          <p:cNvSpPr/>
          <p:nvPr/>
        </p:nvSpPr>
        <p:spPr>
          <a:xfrm>
            <a:off x="685800" y="5700985"/>
            <a:ext cx="130000" cy="13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935800" y="5650985"/>
            <a:ext cx="360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>
                <a:solidFill>
                  <a:srgbClr val="FFFFFF"/>
                </a:solidFill>
                <a:latin typeface="Calibri"/>
              </a:rPr>
              <a:t>5. Prénom NOM</a:t>
            </a:r>
          </a:p>
        </p:txBody>
      </p:sp>
      <p:sp>
        <p:nvSpPr>
          <p:cNvPr id="26" name="Oval 26"/>
          <p:cNvSpPr/>
          <p:nvPr/>
        </p:nvSpPr>
        <p:spPr>
          <a:xfrm>
            <a:off x="4495800" y="5700985"/>
            <a:ext cx="130000" cy="13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Box 27"/>
          <p:cNvSpPr txBox="1"/>
          <p:nvPr/>
        </p:nvSpPr>
        <p:spPr>
          <a:xfrm>
            <a:off x="4745800" y="5650985"/>
            <a:ext cx="3600000" cy="42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>
                <a:solidFill>
                  <a:srgbClr val="FFFFFF"/>
                </a:solidFill>
                <a:latin typeface="Calibri"/>
              </a:rPr>
              <a:t>6. Prénom NOM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65450" y="99891"/>
            <a:ext cx="2562504" cy="70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3400" b="1" dirty="0">
                <a:solidFill>
                  <a:srgbClr val="08464C"/>
                </a:solidFill>
                <a:latin typeface="Calibri"/>
              </a:rPr>
              <a:t>Sommaire</a:t>
            </a:r>
          </a:p>
        </p:txBody>
      </p:sp>
      <p:sp>
        <p:nvSpPr>
          <p:cNvPr id="12" name="Oval 12"/>
          <p:cNvSpPr/>
          <p:nvPr/>
        </p:nvSpPr>
        <p:spPr>
          <a:xfrm>
            <a:off x="215530" y="89490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215530" y="89490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9730" y="894904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dirty="0">
                <a:solidFill>
                  <a:srgbClr val="1F2A30"/>
                </a:solidFill>
                <a:latin typeface="Calibri"/>
              </a:rPr>
              <a:t>Introduction</a:t>
            </a:r>
          </a:p>
        </p:txBody>
      </p:sp>
      <p:sp>
        <p:nvSpPr>
          <p:cNvPr id="15" name="Oval 15"/>
          <p:cNvSpPr/>
          <p:nvPr/>
        </p:nvSpPr>
        <p:spPr>
          <a:xfrm>
            <a:off x="215530" y="151490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Box 16"/>
          <p:cNvSpPr txBox="1"/>
          <p:nvPr/>
        </p:nvSpPr>
        <p:spPr>
          <a:xfrm>
            <a:off x="215530" y="151490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9730" y="1514904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dirty="0" err="1"/>
              <a:t>Présentation</a:t>
            </a:r>
            <a:r>
              <a:rPr lang="en-GB" dirty="0"/>
              <a:t> du </a:t>
            </a:r>
            <a:r>
              <a:rPr lang="en-GB" dirty="0" err="1"/>
              <a:t>projet</a:t>
            </a:r>
            <a:endParaRPr lang="fr-FR" sz="18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18" name="Oval 18"/>
          <p:cNvSpPr/>
          <p:nvPr/>
        </p:nvSpPr>
        <p:spPr>
          <a:xfrm>
            <a:off x="215530" y="213490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215530" y="213490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9730" y="2134904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dirty="0"/>
              <a:t>Analyse des </a:t>
            </a:r>
            <a:r>
              <a:rPr lang="en-GB" dirty="0" err="1"/>
              <a:t>besoins</a:t>
            </a:r>
            <a:endParaRPr lang="fr-FR" sz="18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1" name="Oval 21"/>
          <p:cNvSpPr/>
          <p:nvPr/>
        </p:nvSpPr>
        <p:spPr>
          <a:xfrm>
            <a:off x="215530" y="275490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215530" y="275490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9730" y="2754904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dirty="0"/>
              <a:t>Architecture du </a:t>
            </a:r>
            <a:r>
              <a:rPr lang="en-GB" dirty="0" err="1"/>
              <a:t>système</a:t>
            </a:r>
            <a:endParaRPr lang="fr-FR" sz="18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4" name="Oval 24"/>
          <p:cNvSpPr/>
          <p:nvPr/>
        </p:nvSpPr>
        <p:spPr>
          <a:xfrm>
            <a:off x="215530" y="337490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215530" y="337490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9730" y="3374904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dirty="0"/>
              <a:t>Description des microservices</a:t>
            </a:r>
            <a:endParaRPr lang="fr-FR" sz="18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7" name="Oval 27"/>
          <p:cNvSpPr/>
          <p:nvPr/>
        </p:nvSpPr>
        <p:spPr>
          <a:xfrm>
            <a:off x="215530" y="399490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15530" y="399490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9730" y="3994904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dirty="0"/>
              <a:t>Base de données</a:t>
            </a:r>
            <a:endParaRPr lang="fr-FR" sz="18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30" name="Oval 30"/>
          <p:cNvSpPr/>
          <p:nvPr/>
        </p:nvSpPr>
        <p:spPr>
          <a:xfrm>
            <a:off x="215530" y="461490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215530" y="461490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9730" y="4614904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dirty="0"/>
              <a:t>Interface </a:t>
            </a:r>
            <a:r>
              <a:rPr lang="en-GB" dirty="0" err="1"/>
              <a:t>utilisateur</a:t>
            </a:r>
            <a:r>
              <a:rPr lang="en-GB" dirty="0"/>
              <a:t> (Frontend)</a:t>
            </a:r>
            <a:endParaRPr lang="fr-FR" sz="18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33" name="Footer"/>
          <p:cNvSpPr/>
          <p:nvPr/>
        </p:nvSpPr>
        <p:spPr>
          <a:xfrm>
            <a:off x="457200" y="6629400"/>
            <a:ext cx="6800000" cy="18288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000">
                <a:solidFill>
                  <a:srgbClr val="5B6B70"/>
                </a:solidFill>
                <a:latin typeface="Calibri"/>
              </a:rPr>
              <a:t>Station météo + alarme - Thème 5 | Master 1 IA - DIT Dakar</a:t>
            </a:r>
          </a:p>
        </p:txBody>
      </p:sp>
      <p:sp>
        <p:nvSpPr>
          <p:cNvPr id="34" name="PageNum"/>
          <p:cNvSpPr/>
          <p:nvPr/>
        </p:nvSpPr>
        <p:spPr>
          <a:xfrm>
            <a:off x="8686800" y="6629400"/>
            <a:ext cx="300000" cy="182880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DDE5C338-0BD7-4683-B3D7-D7753D5E86DF}" type="slidenum">
              <a:rPr lang="fr-FR" sz="1000">
                <a:solidFill>
                  <a:srgbClr val="5B6B70"/>
                </a:solidFill>
                <a:latin typeface="Calibri"/>
              </a:rPr>
              <a:t>2</a:t>
            </a:fld>
            <a:endParaRPr lang="fr-FR" sz="100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3" name="Oval 12">
            <a:extLst>
              <a:ext uri="{FF2B5EF4-FFF2-40B4-BE49-F238E27FC236}">
                <a16:creationId xmlns:a16="http://schemas.microsoft.com/office/drawing/2014/main" id="{7A1888BB-BCE2-19CE-AE85-CB5ED60246FC}"/>
              </a:ext>
            </a:extLst>
          </p:cNvPr>
          <p:cNvSpPr/>
          <p:nvPr/>
        </p:nvSpPr>
        <p:spPr>
          <a:xfrm>
            <a:off x="215530" y="5216215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DCD7498F-4561-F18B-6049-3327B50FFBC3}"/>
              </a:ext>
            </a:extLst>
          </p:cNvPr>
          <p:cNvSpPr txBox="1"/>
          <p:nvPr/>
        </p:nvSpPr>
        <p:spPr>
          <a:xfrm>
            <a:off x="259125" y="5229567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8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CB914DDD-6916-E5B4-E23F-6A443F0BE099}"/>
              </a:ext>
            </a:extLst>
          </p:cNvPr>
          <p:cNvSpPr txBox="1"/>
          <p:nvPr/>
        </p:nvSpPr>
        <p:spPr>
          <a:xfrm>
            <a:off x="829730" y="5216215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/>
            </a:lvl1pPr>
          </a:lstStyle>
          <a:p>
            <a:r>
              <a:rPr lang="en-GB" dirty="0" err="1"/>
              <a:t>Conteneurisation</a:t>
            </a:r>
            <a:r>
              <a:rPr lang="en-GB" dirty="0"/>
              <a:t> avec Docker</a:t>
            </a:r>
          </a:p>
        </p:txBody>
      </p:sp>
      <p:sp>
        <p:nvSpPr>
          <p:cNvPr id="9" name="Oval 15">
            <a:extLst>
              <a:ext uri="{FF2B5EF4-FFF2-40B4-BE49-F238E27FC236}">
                <a16:creationId xmlns:a16="http://schemas.microsoft.com/office/drawing/2014/main" id="{3E311B91-1988-5A65-B52E-53FFA8B966D3}"/>
              </a:ext>
            </a:extLst>
          </p:cNvPr>
          <p:cNvSpPr/>
          <p:nvPr/>
        </p:nvSpPr>
        <p:spPr>
          <a:xfrm>
            <a:off x="4687384" y="13363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1E7A8201-0CAF-95E1-3692-19863A953C06}"/>
              </a:ext>
            </a:extLst>
          </p:cNvPr>
          <p:cNvSpPr txBox="1"/>
          <p:nvPr/>
        </p:nvSpPr>
        <p:spPr>
          <a:xfrm>
            <a:off x="4687384" y="13363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9</a:t>
            </a: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7F20BC6F-8533-378B-E9C0-1520958FC122}"/>
              </a:ext>
            </a:extLst>
          </p:cNvPr>
          <p:cNvSpPr txBox="1"/>
          <p:nvPr/>
        </p:nvSpPr>
        <p:spPr>
          <a:xfrm>
            <a:off x="5301584" y="1336381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/>
            </a:lvl1pPr>
          </a:lstStyle>
          <a:p>
            <a:r>
              <a:rPr lang="en-GB" dirty="0"/>
              <a:t>Orchestration avec Docker Compose</a:t>
            </a:r>
          </a:p>
        </p:txBody>
      </p:sp>
      <p:sp>
        <p:nvSpPr>
          <p:cNvPr id="39" name="Oval 18">
            <a:extLst>
              <a:ext uri="{FF2B5EF4-FFF2-40B4-BE49-F238E27FC236}">
                <a16:creationId xmlns:a16="http://schemas.microsoft.com/office/drawing/2014/main" id="{2C3C1E5E-42F7-71F8-A1B0-5E633AF4026D}"/>
              </a:ext>
            </a:extLst>
          </p:cNvPr>
          <p:cNvSpPr/>
          <p:nvPr/>
        </p:nvSpPr>
        <p:spPr>
          <a:xfrm>
            <a:off x="4687384" y="19563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Box 19">
            <a:extLst>
              <a:ext uri="{FF2B5EF4-FFF2-40B4-BE49-F238E27FC236}">
                <a16:creationId xmlns:a16="http://schemas.microsoft.com/office/drawing/2014/main" id="{567B88FD-BB6D-6F52-4A86-FE8DD4AF51A1}"/>
              </a:ext>
            </a:extLst>
          </p:cNvPr>
          <p:cNvSpPr txBox="1"/>
          <p:nvPr/>
        </p:nvSpPr>
        <p:spPr>
          <a:xfrm>
            <a:off x="4687384" y="19563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10</a:t>
            </a:r>
          </a:p>
        </p:txBody>
      </p:sp>
      <p:sp>
        <p:nvSpPr>
          <p:cNvPr id="43" name="TextBox 20">
            <a:extLst>
              <a:ext uri="{FF2B5EF4-FFF2-40B4-BE49-F238E27FC236}">
                <a16:creationId xmlns:a16="http://schemas.microsoft.com/office/drawing/2014/main" id="{769F9317-0F49-6A2D-E560-9316B2FED089}"/>
              </a:ext>
            </a:extLst>
          </p:cNvPr>
          <p:cNvSpPr txBox="1"/>
          <p:nvPr/>
        </p:nvSpPr>
        <p:spPr>
          <a:xfrm>
            <a:off x="5301584" y="1956381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/>
            </a:lvl1pPr>
          </a:lstStyle>
          <a:p>
            <a:r>
              <a:rPr lang="en-GB" dirty="0"/>
              <a:t>Pipeline CI/CD avec Jenkins</a:t>
            </a:r>
          </a:p>
        </p:txBody>
      </p:sp>
      <p:sp>
        <p:nvSpPr>
          <p:cNvPr id="45" name="Oval 21">
            <a:extLst>
              <a:ext uri="{FF2B5EF4-FFF2-40B4-BE49-F238E27FC236}">
                <a16:creationId xmlns:a16="http://schemas.microsoft.com/office/drawing/2014/main" id="{6EF8A7FD-25CF-4F13-D377-71C448689BAD}"/>
              </a:ext>
            </a:extLst>
          </p:cNvPr>
          <p:cNvSpPr/>
          <p:nvPr/>
        </p:nvSpPr>
        <p:spPr>
          <a:xfrm>
            <a:off x="4687384" y="25763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Box 22">
            <a:extLst>
              <a:ext uri="{FF2B5EF4-FFF2-40B4-BE49-F238E27FC236}">
                <a16:creationId xmlns:a16="http://schemas.microsoft.com/office/drawing/2014/main" id="{81F6DA2D-CF81-EC94-793B-1B8698E50B95}"/>
              </a:ext>
            </a:extLst>
          </p:cNvPr>
          <p:cNvSpPr txBox="1"/>
          <p:nvPr/>
        </p:nvSpPr>
        <p:spPr>
          <a:xfrm>
            <a:off x="4687384" y="25763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11</a:t>
            </a:r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344D7DAD-EBAA-7188-08FF-A1369E94EC46}"/>
              </a:ext>
            </a:extLst>
          </p:cNvPr>
          <p:cNvSpPr txBox="1"/>
          <p:nvPr/>
        </p:nvSpPr>
        <p:spPr>
          <a:xfrm>
            <a:off x="5301584" y="2576381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/>
            </a:lvl1pPr>
          </a:lstStyle>
          <a:p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dirty="0" err="1"/>
              <a:t>réalisées</a:t>
            </a:r>
            <a:r>
              <a:rPr lang="en-GB" dirty="0"/>
              <a:t> </a:t>
            </a:r>
          </a:p>
        </p:txBody>
      </p:sp>
      <p:sp>
        <p:nvSpPr>
          <p:cNvPr id="51" name="Oval 24">
            <a:extLst>
              <a:ext uri="{FF2B5EF4-FFF2-40B4-BE49-F238E27FC236}">
                <a16:creationId xmlns:a16="http://schemas.microsoft.com/office/drawing/2014/main" id="{CCC40A1F-EC8B-B72A-13C1-3173E64EFD80}"/>
              </a:ext>
            </a:extLst>
          </p:cNvPr>
          <p:cNvSpPr/>
          <p:nvPr/>
        </p:nvSpPr>
        <p:spPr>
          <a:xfrm>
            <a:off x="4687384" y="31963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Box 25">
            <a:extLst>
              <a:ext uri="{FF2B5EF4-FFF2-40B4-BE49-F238E27FC236}">
                <a16:creationId xmlns:a16="http://schemas.microsoft.com/office/drawing/2014/main" id="{041D9A53-E4FF-F170-A2CA-088CF5CEBB3C}"/>
              </a:ext>
            </a:extLst>
          </p:cNvPr>
          <p:cNvSpPr txBox="1"/>
          <p:nvPr/>
        </p:nvSpPr>
        <p:spPr>
          <a:xfrm>
            <a:off x="4687384" y="31963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12</a:t>
            </a:r>
          </a:p>
        </p:txBody>
      </p:sp>
      <p:sp>
        <p:nvSpPr>
          <p:cNvPr id="55" name="TextBox 26">
            <a:extLst>
              <a:ext uri="{FF2B5EF4-FFF2-40B4-BE49-F238E27FC236}">
                <a16:creationId xmlns:a16="http://schemas.microsoft.com/office/drawing/2014/main" id="{E79F59DD-40DA-7142-648B-ACB8866D17D1}"/>
              </a:ext>
            </a:extLst>
          </p:cNvPr>
          <p:cNvSpPr txBox="1"/>
          <p:nvPr/>
        </p:nvSpPr>
        <p:spPr>
          <a:xfrm>
            <a:off x="5301584" y="3196381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/>
            </a:lvl1pPr>
          </a:lstStyle>
          <a:p>
            <a:r>
              <a:rPr lang="en-GB" dirty="0" err="1"/>
              <a:t>Résultats</a:t>
            </a:r>
            <a:r>
              <a:rPr lang="en-GB" dirty="0"/>
              <a:t> </a:t>
            </a:r>
            <a:r>
              <a:rPr lang="en-GB" dirty="0" err="1"/>
              <a:t>obtenus</a:t>
            </a:r>
            <a:r>
              <a:rPr lang="en-GB" dirty="0"/>
              <a:t> </a:t>
            </a:r>
          </a:p>
        </p:txBody>
      </p:sp>
      <p:sp>
        <p:nvSpPr>
          <p:cNvPr id="57" name="Oval 27">
            <a:extLst>
              <a:ext uri="{FF2B5EF4-FFF2-40B4-BE49-F238E27FC236}">
                <a16:creationId xmlns:a16="http://schemas.microsoft.com/office/drawing/2014/main" id="{D8775FD0-9879-1A5B-D109-094BCD8B8B3A}"/>
              </a:ext>
            </a:extLst>
          </p:cNvPr>
          <p:cNvSpPr/>
          <p:nvPr/>
        </p:nvSpPr>
        <p:spPr>
          <a:xfrm>
            <a:off x="4687384" y="38163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Box 28">
            <a:extLst>
              <a:ext uri="{FF2B5EF4-FFF2-40B4-BE49-F238E27FC236}">
                <a16:creationId xmlns:a16="http://schemas.microsoft.com/office/drawing/2014/main" id="{1A96A922-36C6-E870-D33F-77AEBE88640A}"/>
              </a:ext>
            </a:extLst>
          </p:cNvPr>
          <p:cNvSpPr txBox="1"/>
          <p:nvPr/>
        </p:nvSpPr>
        <p:spPr>
          <a:xfrm>
            <a:off x="4687384" y="38163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13</a:t>
            </a:r>
          </a:p>
        </p:txBody>
      </p:sp>
      <p:sp>
        <p:nvSpPr>
          <p:cNvPr id="61" name="TextBox 29">
            <a:extLst>
              <a:ext uri="{FF2B5EF4-FFF2-40B4-BE49-F238E27FC236}">
                <a16:creationId xmlns:a16="http://schemas.microsoft.com/office/drawing/2014/main" id="{A9568592-BF0F-8D42-076B-4FA49DB21517}"/>
              </a:ext>
            </a:extLst>
          </p:cNvPr>
          <p:cNvSpPr txBox="1"/>
          <p:nvPr/>
        </p:nvSpPr>
        <p:spPr>
          <a:xfrm>
            <a:off x="5301584" y="3816381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/>
            </a:lvl1pPr>
          </a:lstStyle>
          <a:p>
            <a:r>
              <a:rPr lang="en-GB" dirty="0" err="1"/>
              <a:t>Difficultés</a:t>
            </a:r>
            <a:r>
              <a:rPr lang="en-GB" dirty="0"/>
              <a:t> </a:t>
            </a:r>
            <a:r>
              <a:rPr lang="en-GB" dirty="0" err="1"/>
              <a:t>rencontrées</a:t>
            </a:r>
            <a:r>
              <a:rPr lang="en-GB" dirty="0"/>
              <a:t> </a:t>
            </a:r>
          </a:p>
        </p:txBody>
      </p:sp>
      <p:sp>
        <p:nvSpPr>
          <p:cNvPr id="63" name="Oval 30">
            <a:extLst>
              <a:ext uri="{FF2B5EF4-FFF2-40B4-BE49-F238E27FC236}">
                <a16:creationId xmlns:a16="http://schemas.microsoft.com/office/drawing/2014/main" id="{EB7AE62B-3AF9-042F-7C56-CB4414518BF7}"/>
              </a:ext>
            </a:extLst>
          </p:cNvPr>
          <p:cNvSpPr/>
          <p:nvPr/>
        </p:nvSpPr>
        <p:spPr>
          <a:xfrm>
            <a:off x="4687384" y="44363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Box 31">
            <a:extLst>
              <a:ext uri="{FF2B5EF4-FFF2-40B4-BE49-F238E27FC236}">
                <a16:creationId xmlns:a16="http://schemas.microsoft.com/office/drawing/2014/main" id="{578AAB24-A1DD-B018-0577-8B63A648B082}"/>
              </a:ext>
            </a:extLst>
          </p:cNvPr>
          <p:cNvSpPr txBox="1"/>
          <p:nvPr/>
        </p:nvSpPr>
        <p:spPr>
          <a:xfrm>
            <a:off x="4687384" y="44363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14</a:t>
            </a:r>
          </a:p>
        </p:txBody>
      </p:sp>
      <p:sp>
        <p:nvSpPr>
          <p:cNvPr id="67" name="TextBox 32">
            <a:extLst>
              <a:ext uri="{FF2B5EF4-FFF2-40B4-BE49-F238E27FC236}">
                <a16:creationId xmlns:a16="http://schemas.microsoft.com/office/drawing/2014/main" id="{378519AC-780A-857D-5C85-AEDDA219050D}"/>
              </a:ext>
            </a:extLst>
          </p:cNvPr>
          <p:cNvSpPr txBox="1"/>
          <p:nvPr/>
        </p:nvSpPr>
        <p:spPr>
          <a:xfrm>
            <a:off x="5301584" y="4436381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/>
            </a:lvl1pPr>
          </a:lstStyle>
          <a:p>
            <a:r>
              <a:rPr lang="en-GB" dirty="0"/>
              <a:t>Perspectives </a:t>
            </a:r>
            <a:r>
              <a:rPr lang="en-GB" dirty="0" err="1"/>
              <a:t>d'amélioration</a:t>
            </a:r>
            <a:r>
              <a:rPr lang="en-GB" dirty="0"/>
              <a:t> </a:t>
            </a:r>
          </a:p>
        </p:txBody>
      </p:sp>
      <p:sp>
        <p:nvSpPr>
          <p:cNvPr id="73" name="Oval 30">
            <a:extLst>
              <a:ext uri="{FF2B5EF4-FFF2-40B4-BE49-F238E27FC236}">
                <a16:creationId xmlns:a16="http://schemas.microsoft.com/office/drawing/2014/main" id="{D6B7931D-0ED7-531E-E810-800C53A80219}"/>
              </a:ext>
            </a:extLst>
          </p:cNvPr>
          <p:cNvSpPr/>
          <p:nvPr/>
        </p:nvSpPr>
        <p:spPr>
          <a:xfrm>
            <a:off x="4691288" y="5054556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Box 31">
            <a:extLst>
              <a:ext uri="{FF2B5EF4-FFF2-40B4-BE49-F238E27FC236}">
                <a16:creationId xmlns:a16="http://schemas.microsoft.com/office/drawing/2014/main" id="{1DA1D807-A9E4-1555-4E41-E32469BA792A}"/>
              </a:ext>
            </a:extLst>
          </p:cNvPr>
          <p:cNvSpPr txBox="1"/>
          <p:nvPr/>
        </p:nvSpPr>
        <p:spPr>
          <a:xfrm>
            <a:off x="4691288" y="5054556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15</a:t>
            </a:r>
          </a:p>
        </p:txBody>
      </p:sp>
      <p:sp>
        <p:nvSpPr>
          <p:cNvPr id="77" name="TextBox 32">
            <a:extLst>
              <a:ext uri="{FF2B5EF4-FFF2-40B4-BE49-F238E27FC236}">
                <a16:creationId xmlns:a16="http://schemas.microsoft.com/office/drawing/2014/main" id="{D087B8D4-AA1C-8B81-B91E-F5A94986C1B4}"/>
              </a:ext>
            </a:extLst>
          </p:cNvPr>
          <p:cNvSpPr txBox="1"/>
          <p:nvPr/>
        </p:nvSpPr>
        <p:spPr>
          <a:xfrm>
            <a:off x="5305488" y="5054556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/>
            </a:lvl1pPr>
          </a:lstStyle>
          <a:p>
            <a:r>
              <a:rPr lang="en-GB" dirty="0"/>
              <a:t>Conclusion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/>
          <p:nvPr/>
        </p:nvSpPr>
        <p:spPr>
          <a:xfrm>
            <a:off x="215530" y="1329000"/>
            <a:ext cx="8702047" cy="42000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r>
              <a:rPr lang="en-GB" dirty="0"/>
              <a:t>La bibliothèque du Dakar Institute of Technology (DIT) utilise </a:t>
            </a:r>
            <a:r>
              <a:rPr lang="en-GB" dirty="0" err="1"/>
              <a:t>traditionnellement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gestion </a:t>
            </a:r>
            <a:r>
              <a:rPr lang="en-GB" dirty="0" err="1"/>
              <a:t>manuelle</a:t>
            </a:r>
            <a:r>
              <a:rPr lang="en-GB" dirty="0"/>
              <a:t> des livres et des </a:t>
            </a:r>
            <a:r>
              <a:rPr lang="en-GB" dirty="0" err="1"/>
              <a:t>emprunts</a:t>
            </a:r>
            <a:r>
              <a:rPr lang="en-GB" dirty="0"/>
              <a:t>. Cette </a:t>
            </a:r>
            <a:r>
              <a:rPr lang="en-GB" dirty="0" err="1"/>
              <a:t>méthode</a:t>
            </a:r>
            <a:r>
              <a:rPr lang="en-GB" dirty="0"/>
              <a:t> </a:t>
            </a:r>
            <a:r>
              <a:rPr lang="en-GB" dirty="0" err="1"/>
              <a:t>présente</a:t>
            </a:r>
            <a:r>
              <a:rPr lang="en-GB" dirty="0"/>
              <a:t> </a:t>
            </a:r>
            <a:r>
              <a:rPr lang="en-GB" dirty="0" err="1"/>
              <a:t>plusieurs</a:t>
            </a:r>
            <a:r>
              <a:rPr lang="en-GB" dirty="0"/>
              <a:t> </a:t>
            </a:r>
            <a:r>
              <a:rPr lang="en-GB" dirty="0" err="1"/>
              <a:t>limites</a:t>
            </a:r>
            <a:r>
              <a:rPr lang="en-GB" dirty="0"/>
              <a:t> 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</a:t>
            </a:r>
            <a:r>
              <a:rPr lang="en-GB" dirty="0" err="1"/>
              <a:t>Difficulté</a:t>
            </a:r>
            <a:r>
              <a:rPr lang="en-GB" dirty="0"/>
              <a:t> de </a:t>
            </a:r>
            <a:r>
              <a:rPr lang="en-GB" dirty="0" err="1"/>
              <a:t>suivi</a:t>
            </a:r>
            <a:r>
              <a:rPr lang="en-GB" dirty="0"/>
              <a:t> des </a:t>
            </a:r>
            <a:r>
              <a:rPr lang="en-GB" dirty="0" err="1"/>
              <a:t>ouvrages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Manque de </a:t>
            </a:r>
            <a:r>
              <a:rPr lang="en-GB" dirty="0" err="1"/>
              <a:t>statistiques</a:t>
            </a:r>
            <a:r>
              <a:rPr lang="en-GB" dirty="0"/>
              <a:t> </a:t>
            </a:r>
            <a:r>
              <a:rPr lang="en-GB" dirty="0" err="1"/>
              <a:t>fiables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Gestion peu </a:t>
            </a:r>
            <a:r>
              <a:rPr lang="en-GB" dirty="0" err="1"/>
              <a:t>efficace</a:t>
            </a:r>
            <a:r>
              <a:rPr lang="en-GB" dirty="0"/>
              <a:t> des </a:t>
            </a:r>
            <a:r>
              <a:rPr lang="en-GB" dirty="0" err="1"/>
              <a:t>emprunts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Difficulté</a:t>
            </a:r>
            <a:r>
              <a:rPr lang="en-GB" dirty="0"/>
              <a:t> </a:t>
            </a:r>
            <a:r>
              <a:rPr lang="en-GB" dirty="0" err="1"/>
              <a:t>d'accès</a:t>
            </a:r>
            <a:r>
              <a:rPr lang="en-GB" dirty="0"/>
              <a:t> aux </a:t>
            </a:r>
            <a:r>
              <a:rPr lang="en-GB" dirty="0" err="1"/>
              <a:t>informations</a:t>
            </a:r>
            <a:r>
              <a:rPr lang="en-GB" dirty="0"/>
              <a:t> pour les </a:t>
            </a:r>
            <a:r>
              <a:rPr lang="en-GB" dirty="0" err="1"/>
              <a:t>étudiants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/>
              <a:t>Afin de moderniser </a:t>
            </a:r>
            <a:r>
              <a:rPr lang="en-GB" dirty="0" err="1"/>
              <a:t>ce</a:t>
            </a:r>
            <a:r>
              <a:rPr lang="en-GB" dirty="0"/>
              <a:t> </a:t>
            </a:r>
            <a:r>
              <a:rPr lang="en-GB" dirty="0" err="1"/>
              <a:t>système</a:t>
            </a:r>
            <a:r>
              <a:rPr lang="en-GB" dirty="0"/>
              <a:t>, nous </a:t>
            </a:r>
            <a:r>
              <a:rPr lang="en-GB" dirty="0" err="1"/>
              <a:t>avons</a:t>
            </a:r>
            <a:r>
              <a:rPr lang="en-GB" dirty="0"/>
              <a:t> </a:t>
            </a:r>
            <a:r>
              <a:rPr lang="en-GB" dirty="0" err="1"/>
              <a:t>développé</a:t>
            </a:r>
            <a:r>
              <a:rPr lang="en-GB" dirty="0"/>
              <a:t> </a:t>
            </a:r>
            <a:r>
              <a:rPr lang="en-GB" dirty="0" err="1"/>
              <a:t>une</a:t>
            </a:r>
            <a:r>
              <a:rPr lang="en-GB" dirty="0"/>
              <a:t> </a:t>
            </a:r>
            <a:r>
              <a:rPr lang="en-GB" dirty="0" err="1"/>
              <a:t>plateforme</a:t>
            </a:r>
            <a:r>
              <a:rPr lang="en-GB" dirty="0"/>
              <a:t> web de gestion de bibliothèque </a:t>
            </a:r>
            <a:r>
              <a:rPr lang="en-GB" dirty="0" err="1"/>
              <a:t>basée</a:t>
            </a:r>
            <a:r>
              <a:rPr lang="en-GB" dirty="0"/>
              <a:t> sur </a:t>
            </a:r>
            <a:r>
              <a:rPr lang="en-GB" dirty="0" err="1"/>
              <a:t>une</a:t>
            </a:r>
            <a:r>
              <a:rPr lang="en-GB" dirty="0"/>
              <a:t> architecture microservices. Cette solution </a:t>
            </a:r>
            <a:r>
              <a:rPr lang="en-GB" dirty="0" err="1"/>
              <a:t>permet</a:t>
            </a:r>
            <a:r>
              <a:rPr lang="en-GB" dirty="0"/>
              <a:t> de centraliser la gestion des livres, </a:t>
            </a:r>
            <a:r>
              <a:rPr lang="en-GB" dirty="0" err="1"/>
              <a:t>utilisateurs</a:t>
            </a:r>
            <a:r>
              <a:rPr lang="en-GB" dirty="0"/>
              <a:t> et </a:t>
            </a:r>
            <a:r>
              <a:rPr lang="en-GB" dirty="0" err="1"/>
              <a:t>emprunts</a:t>
            </a:r>
            <a:r>
              <a:rPr lang="en-GB" dirty="0"/>
              <a:t> tout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utilisant</a:t>
            </a:r>
            <a:r>
              <a:rPr lang="en-GB" dirty="0"/>
              <a:t> des pratiques DevOps </a:t>
            </a:r>
            <a:r>
              <a:rPr lang="en-GB" dirty="0" err="1"/>
              <a:t>modernes</a:t>
            </a:r>
            <a:r>
              <a:rPr lang="en-GB" dirty="0"/>
              <a:t> </a:t>
            </a:r>
            <a:r>
              <a:rPr lang="en-GB" dirty="0" err="1"/>
              <a:t>telles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Docker, Docker Compose, GitHub et Jenkins.</a:t>
            </a:r>
            <a:endParaRPr lang="fr-FR" dirty="0"/>
          </a:p>
        </p:txBody>
      </p:sp>
      <p:sp>
        <p:nvSpPr>
          <p:cNvPr id="21" name="Footer"/>
          <p:cNvSpPr/>
          <p:nvPr/>
        </p:nvSpPr>
        <p:spPr>
          <a:xfrm>
            <a:off x="457200" y="6629400"/>
            <a:ext cx="6800000" cy="18288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000">
                <a:solidFill>
                  <a:srgbClr val="5B6B70"/>
                </a:solidFill>
                <a:latin typeface="Calibri"/>
              </a:rPr>
              <a:t>Station météo + alarme - Thème 5 | Master 1 IA - DIT Dakar</a:t>
            </a:r>
          </a:p>
        </p:txBody>
      </p:sp>
      <p:sp>
        <p:nvSpPr>
          <p:cNvPr id="22" name="PageNum"/>
          <p:cNvSpPr/>
          <p:nvPr/>
        </p:nvSpPr>
        <p:spPr>
          <a:xfrm>
            <a:off x="8686800" y="6629400"/>
            <a:ext cx="300000" cy="182880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DDE5C338-0BD7-4683-B3D7-D7753D5E86DF}" type="slidenum">
              <a:rPr lang="fr-FR" sz="1000">
                <a:solidFill>
                  <a:srgbClr val="5B6B70"/>
                </a:solidFill>
                <a:latin typeface="Calibri"/>
              </a:rPr>
              <a:t>3</a:t>
            </a:fld>
            <a:endParaRPr lang="fr-FR" sz="100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3" name="Oval 12">
            <a:extLst>
              <a:ext uri="{FF2B5EF4-FFF2-40B4-BE49-F238E27FC236}">
                <a16:creationId xmlns:a16="http://schemas.microsoft.com/office/drawing/2014/main" id="{61698914-503F-6383-609B-36A5628C056C}"/>
              </a:ext>
            </a:extLst>
          </p:cNvPr>
          <p:cNvSpPr/>
          <p:nvPr/>
        </p:nvSpPr>
        <p:spPr>
          <a:xfrm>
            <a:off x="215530" y="233053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5F390610-D0EA-5A81-9045-7069ABCCBB63}"/>
              </a:ext>
            </a:extLst>
          </p:cNvPr>
          <p:cNvSpPr txBox="1"/>
          <p:nvPr/>
        </p:nvSpPr>
        <p:spPr>
          <a:xfrm>
            <a:off x="215530" y="233053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1</a:t>
            </a:r>
          </a:p>
        </p:txBody>
      </p:sp>
      <p:sp>
        <p:nvSpPr>
          <p:cNvPr id="7" name="TextBox 14">
            <a:extLst>
              <a:ext uri="{FF2B5EF4-FFF2-40B4-BE49-F238E27FC236}">
                <a16:creationId xmlns:a16="http://schemas.microsoft.com/office/drawing/2014/main" id="{2D5CE539-65A3-3D67-F552-423D8CA242FD}"/>
              </a:ext>
            </a:extLst>
          </p:cNvPr>
          <p:cNvSpPr txBox="1"/>
          <p:nvPr/>
        </p:nvSpPr>
        <p:spPr>
          <a:xfrm>
            <a:off x="829730" y="233053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F0D21-E77E-CCEF-DBCB-A8698526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>
            <a:extLst>
              <a:ext uri="{FF2B5EF4-FFF2-40B4-BE49-F238E27FC236}">
                <a16:creationId xmlns:a16="http://schemas.microsoft.com/office/drawing/2014/main" id="{0BE7976A-F621-FBF6-A350-2E15D6EC655E}"/>
              </a:ext>
            </a:extLst>
          </p:cNvPr>
          <p:cNvSpPr/>
          <p:nvPr/>
        </p:nvSpPr>
        <p:spPr>
          <a:xfrm>
            <a:off x="215530" y="1329000"/>
            <a:ext cx="8702047" cy="420000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r>
              <a:rPr lang="en-GB" dirty="0"/>
              <a:t>Le </a:t>
            </a:r>
            <a:r>
              <a:rPr lang="en-GB" dirty="0" err="1"/>
              <a:t>projet</a:t>
            </a:r>
            <a:r>
              <a:rPr lang="en-GB" dirty="0"/>
              <a:t> "Bibliothèque Numérique DIT" est </a:t>
            </a:r>
            <a:r>
              <a:rPr lang="en-GB" dirty="0" err="1"/>
              <a:t>une</a:t>
            </a:r>
            <a:r>
              <a:rPr lang="en-GB" dirty="0"/>
              <a:t> application web </a:t>
            </a:r>
            <a:r>
              <a:rPr lang="en-GB" dirty="0" err="1"/>
              <a:t>permettant</a:t>
            </a:r>
            <a:r>
              <a:rPr lang="en-GB" dirty="0"/>
              <a:t> : 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La gestion </a:t>
            </a:r>
            <a:r>
              <a:rPr lang="en-GB" dirty="0" err="1"/>
              <a:t>complète</a:t>
            </a:r>
            <a:r>
              <a:rPr lang="en-GB" dirty="0"/>
              <a:t> des livres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La gestion des </a:t>
            </a:r>
            <a:r>
              <a:rPr lang="en-GB" dirty="0" err="1"/>
              <a:t>utilisateurs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La gestion des </a:t>
            </a:r>
            <a:r>
              <a:rPr lang="en-GB" dirty="0" err="1"/>
              <a:t>emprunts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La </a:t>
            </a:r>
            <a:r>
              <a:rPr lang="en-GB" dirty="0" err="1"/>
              <a:t>détection</a:t>
            </a:r>
            <a:r>
              <a:rPr lang="en-GB" dirty="0"/>
              <a:t> </a:t>
            </a:r>
            <a:r>
              <a:rPr lang="en-GB" dirty="0" err="1"/>
              <a:t>automatique</a:t>
            </a:r>
            <a:r>
              <a:rPr lang="en-GB" dirty="0"/>
              <a:t> des retards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La consultation de </a:t>
            </a:r>
            <a:r>
              <a:rPr lang="en-GB" dirty="0" err="1"/>
              <a:t>statistiques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temps </a:t>
            </a:r>
            <a:r>
              <a:rPr lang="en-GB" dirty="0" err="1"/>
              <a:t>réel</a:t>
            </a:r>
            <a:r>
              <a:rPr lang="en-GB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 err="1"/>
              <a:t>L'application</a:t>
            </a:r>
            <a:r>
              <a:rPr lang="en-GB" dirty="0"/>
              <a:t> repose sur </a:t>
            </a:r>
            <a:r>
              <a:rPr lang="en-GB" dirty="0" err="1"/>
              <a:t>une</a:t>
            </a:r>
            <a:r>
              <a:rPr lang="en-GB" dirty="0"/>
              <a:t> architecture microservices </a:t>
            </a:r>
            <a:r>
              <a:rPr lang="en-GB" dirty="0" err="1"/>
              <a:t>composée</a:t>
            </a:r>
            <a:r>
              <a:rPr lang="en-GB" dirty="0"/>
              <a:t> de </a:t>
            </a:r>
            <a:r>
              <a:rPr lang="en-GB" dirty="0" err="1"/>
              <a:t>plusieurs</a:t>
            </a:r>
            <a:r>
              <a:rPr lang="en-GB" dirty="0"/>
              <a:t> services </a:t>
            </a:r>
            <a:r>
              <a:rPr lang="en-GB" dirty="0" err="1"/>
              <a:t>indépendants</a:t>
            </a:r>
            <a:r>
              <a:rPr lang="en-GB" dirty="0"/>
              <a:t> </a:t>
            </a:r>
            <a:r>
              <a:rPr lang="en-GB" dirty="0" err="1"/>
              <a:t>communiquant</a:t>
            </a:r>
            <a:r>
              <a:rPr lang="en-GB" dirty="0"/>
              <a:t> via des API REST.</a:t>
            </a:r>
            <a:endParaRPr lang="fr-FR" dirty="0"/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D40FF2B6-9EAD-DB9D-EDE3-C635ED4D4F24}"/>
              </a:ext>
            </a:extLst>
          </p:cNvPr>
          <p:cNvSpPr/>
          <p:nvPr/>
        </p:nvSpPr>
        <p:spPr>
          <a:xfrm>
            <a:off x="457200" y="6629400"/>
            <a:ext cx="6800000" cy="18288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000">
                <a:solidFill>
                  <a:srgbClr val="5B6B70"/>
                </a:solidFill>
                <a:latin typeface="Calibri"/>
              </a:rPr>
              <a:t>Station météo + alarme - Thème 5 | Master 1 IA - DIT Dakar</a:t>
            </a:r>
          </a:p>
        </p:txBody>
      </p:sp>
      <p:sp>
        <p:nvSpPr>
          <p:cNvPr id="22" name="PageNum">
            <a:extLst>
              <a:ext uri="{FF2B5EF4-FFF2-40B4-BE49-F238E27FC236}">
                <a16:creationId xmlns:a16="http://schemas.microsoft.com/office/drawing/2014/main" id="{6BBC6930-A111-DBE3-E29D-4A4CA940A36D}"/>
              </a:ext>
            </a:extLst>
          </p:cNvPr>
          <p:cNvSpPr/>
          <p:nvPr/>
        </p:nvSpPr>
        <p:spPr>
          <a:xfrm>
            <a:off x="8686800" y="6629400"/>
            <a:ext cx="300000" cy="182880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DDE5C338-0BD7-4683-B3D7-D7753D5E86DF}" type="slidenum">
              <a:rPr lang="fr-FR" sz="1000">
                <a:solidFill>
                  <a:srgbClr val="5B6B70"/>
                </a:solidFill>
                <a:latin typeface="Calibri"/>
              </a:rPr>
              <a:t>4</a:t>
            </a:fld>
            <a:endParaRPr lang="fr-FR" sz="100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4" name="Oval 15">
            <a:extLst>
              <a:ext uri="{FF2B5EF4-FFF2-40B4-BE49-F238E27FC236}">
                <a16:creationId xmlns:a16="http://schemas.microsoft.com/office/drawing/2014/main" id="{C25E5069-1910-5DD6-FB1C-02F288FD3CAA}"/>
              </a:ext>
            </a:extLst>
          </p:cNvPr>
          <p:cNvSpPr/>
          <p:nvPr/>
        </p:nvSpPr>
        <p:spPr>
          <a:xfrm>
            <a:off x="215530" y="234742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8" name="TextBox 16">
            <a:extLst>
              <a:ext uri="{FF2B5EF4-FFF2-40B4-BE49-F238E27FC236}">
                <a16:creationId xmlns:a16="http://schemas.microsoft.com/office/drawing/2014/main" id="{0BB5FB8D-3063-4F2E-AA14-1F8110B23F09}"/>
              </a:ext>
            </a:extLst>
          </p:cNvPr>
          <p:cNvSpPr txBox="1"/>
          <p:nvPr/>
        </p:nvSpPr>
        <p:spPr>
          <a:xfrm>
            <a:off x="215530" y="234742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2</a:t>
            </a:r>
          </a:p>
        </p:txBody>
      </p:sp>
      <p:sp>
        <p:nvSpPr>
          <p:cNvPr id="10" name="TextBox 17">
            <a:extLst>
              <a:ext uri="{FF2B5EF4-FFF2-40B4-BE49-F238E27FC236}">
                <a16:creationId xmlns:a16="http://schemas.microsoft.com/office/drawing/2014/main" id="{BA475D1E-9118-EAFF-22C1-BEDC2067134A}"/>
              </a:ext>
            </a:extLst>
          </p:cNvPr>
          <p:cNvSpPr txBox="1"/>
          <p:nvPr/>
        </p:nvSpPr>
        <p:spPr>
          <a:xfrm>
            <a:off x="829730" y="234742"/>
            <a:ext cx="4282201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 err="1"/>
              <a:t>Présentation</a:t>
            </a:r>
            <a:r>
              <a:rPr lang="en-GB" dirty="0"/>
              <a:t> du </a:t>
            </a:r>
            <a:r>
              <a:rPr lang="en-GB" dirty="0" err="1"/>
              <a:t>projet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016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903971" y="764459"/>
            <a:ext cx="2111829" cy="309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 b="1" dirty="0">
                <a:solidFill>
                  <a:srgbClr val="08464C"/>
                </a:solidFill>
                <a:latin typeface="Calibri"/>
              </a:rPr>
              <a:t>Besoins fonctionnels</a:t>
            </a:r>
          </a:p>
        </p:txBody>
      </p:sp>
      <p:sp>
        <p:nvSpPr>
          <p:cNvPr id="12" name="Shape 12"/>
          <p:cNvSpPr/>
          <p:nvPr/>
        </p:nvSpPr>
        <p:spPr>
          <a:xfrm>
            <a:off x="119739" y="1500000"/>
            <a:ext cx="2647994" cy="423894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3" name="Oval 13"/>
          <p:cNvSpPr/>
          <p:nvPr/>
        </p:nvSpPr>
        <p:spPr>
          <a:xfrm>
            <a:off x="239739" y="1620000"/>
            <a:ext cx="560000" cy="56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252312" y="1583483"/>
            <a:ext cx="560000" cy="5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9739" y="1770606"/>
            <a:ext cx="2210000" cy="3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 b="1" dirty="0">
                <a:solidFill>
                  <a:srgbClr val="1F2A30"/>
                </a:solidFill>
                <a:latin typeface="Calibri"/>
              </a:rPr>
              <a:t>Gestion des livres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739" y="2300000"/>
            <a:ext cx="2647994" cy="256711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sz="1500" dirty="0">
                <a:solidFill>
                  <a:srgbClr val="1F2A30"/>
                </a:solidFill>
                <a:latin typeface="Calibri"/>
              </a:rPr>
              <a:t>Le </a:t>
            </a:r>
            <a:r>
              <a:rPr lang="en-GB" sz="1500" dirty="0" err="1">
                <a:solidFill>
                  <a:srgbClr val="1F2A30"/>
                </a:solidFill>
                <a:latin typeface="Calibri"/>
              </a:rPr>
              <a:t>système</a:t>
            </a:r>
            <a:r>
              <a:rPr lang="en-GB" sz="1500" dirty="0">
                <a:solidFill>
                  <a:srgbClr val="1F2A30"/>
                </a:solidFill>
                <a:latin typeface="Calibri"/>
              </a:rPr>
              <a:t> doit </a:t>
            </a:r>
            <a:r>
              <a:rPr lang="en-GB" sz="1500" dirty="0" err="1">
                <a:solidFill>
                  <a:srgbClr val="1F2A30"/>
                </a:solidFill>
                <a:latin typeface="Calibri"/>
              </a:rPr>
              <a:t>permettre</a:t>
            </a:r>
            <a:r>
              <a:rPr lang="en-GB" sz="1500" dirty="0">
                <a:solidFill>
                  <a:srgbClr val="1F2A30"/>
                </a:solidFill>
                <a:latin typeface="Calibri"/>
              </a:rPr>
              <a:t> de :</a:t>
            </a:r>
          </a:p>
          <a:p>
            <a:pPr fontAlgn="t">
              <a:lnSpc>
                <a:spcPts val="1500"/>
              </a:lnSpc>
              <a:buNone/>
            </a:pPr>
            <a:endParaRPr lang="en-GB" sz="1500" dirty="0">
              <a:solidFill>
                <a:srgbClr val="1F2A30"/>
              </a:solidFill>
              <a:latin typeface="Calibri"/>
            </a:endParaRP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500" dirty="0" err="1">
                <a:solidFill>
                  <a:srgbClr val="1F2A30"/>
                </a:solidFill>
                <a:latin typeface="Calibri"/>
              </a:rPr>
              <a:t>Ajouter</a:t>
            </a:r>
            <a:r>
              <a:rPr lang="en-GB" sz="1500" dirty="0">
                <a:solidFill>
                  <a:srgbClr val="1F2A30"/>
                </a:solidFill>
                <a:latin typeface="Calibri"/>
              </a:rPr>
              <a:t> un livre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F2A30"/>
                </a:solidFill>
                <a:latin typeface="Calibri"/>
              </a:rPr>
              <a:t>Modifier un livre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500" dirty="0" err="1">
                <a:solidFill>
                  <a:srgbClr val="1F2A30"/>
                </a:solidFill>
                <a:latin typeface="Calibri"/>
              </a:rPr>
              <a:t>Supprimer</a:t>
            </a:r>
            <a:r>
              <a:rPr lang="en-GB" sz="1500" dirty="0">
                <a:solidFill>
                  <a:srgbClr val="1F2A30"/>
                </a:solidFill>
                <a:latin typeface="Calibri"/>
              </a:rPr>
              <a:t> un livre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F2A30"/>
                </a:solidFill>
                <a:latin typeface="Calibri"/>
              </a:rPr>
              <a:t>Consulter les livres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500" dirty="0" err="1">
                <a:solidFill>
                  <a:srgbClr val="1F2A30"/>
                </a:solidFill>
                <a:latin typeface="Calibri"/>
              </a:rPr>
              <a:t>Rechercher</a:t>
            </a:r>
            <a:r>
              <a:rPr lang="en-GB" sz="1500" dirty="0">
                <a:solidFill>
                  <a:srgbClr val="1F2A30"/>
                </a:solidFill>
                <a:latin typeface="Calibri"/>
              </a:rPr>
              <a:t> un livre par : 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F2A30"/>
                </a:solidFill>
                <a:latin typeface="Calibri"/>
              </a:rPr>
              <a:t>titre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F2A30"/>
                </a:solidFill>
                <a:latin typeface="Calibri"/>
              </a:rPr>
              <a:t>auteur</a:t>
            </a:r>
          </a:p>
          <a:p>
            <a: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500" dirty="0">
                <a:solidFill>
                  <a:srgbClr val="1F2A30"/>
                </a:solidFill>
                <a:latin typeface="Calibri"/>
              </a:rPr>
              <a:t>ISBN</a:t>
            </a:r>
          </a:p>
        </p:txBody>
      </p:sp>
      <p:sp>
        <p:nvSpPr>
          <p:cNvPr id="17" name="Shape 17"/>
          <p:cNvSpPr/>
          <p:nvPr/>
        </p:nvSpPr>
        <p:spPr>
          <a:xfrm>
            <a:off x="2887733" y="1439039"/>
            <a:ext cx="2968916" cy="4299909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8" name="Oval 18"/>
          <p:cNvSpPr/>
          <p:nvPr/>
        </p:nvSpPr>
        <p:spPr>
          <a:xfrm>
            <a:off x="3097870" y="1579619"/>
            <a:ext cx="560000" cy="56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3127870" y="1566930"/>
            <a:ext cx="560000" cy="5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25455" y="1710000"/>
            <a:ext cx="2210000" cy="3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 b="1" dirty="0">
                <a:solidFill>
                  <a:srgbClr val="1F2A30"/>
                </a:solidFill>
                <a:latin typeface="Calibri"/>
              </a:rPr>
              <a:t>Gestion des utilisateurs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09739" y="2322215"/>
            <a:ext cx="2764044" cy="25065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>
            <a:defPPr>
              <a:defRPr lang="fr-FR"/>
            </a:defPPr>
            <a:lvl1pPr fontAlgn="t">
              <a:lnSpc>
                <a:spcPts val="1500"/>
              </a:lnSpc>
              <a:buNone/>
              <a:defRPr sz="1500">
                <a:solidFill>
                  <a:srgbClr val="1F2A30"/>
                </a:solidFill>
                <a:latin typeface="Calibri"/>
              </a:defRPr>
            </a:lvl1pPr>
            <a:lvl2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  <a:defRPr sz="1500">
                <a:solidFill>
                  <a:srgbClr val="1F2A30"/>
                </a:solidFill>
                <a:latin typeface="Calibri"/>
              </a:defRPr>
            </a:lvl2pPr>
          </a:lstStyle>
          <a:p>
            <a:r>
              <a:rPr lang="en-GB" dirty="0"/>
              <a:t>Le </a:t>
            </a:r>
            <a:r>
              <a:rPr lang="en-GB" dirty="0" err="1"/>
              <a:t>système</a:t>
            </a:r>
            <a:r>
              <a:rPr lang="en-GB" dirty="0"/>
              <a:t> doit </a:t>
            </a:r>
            <a:r>
              <a:rPr lang="en-GB" dirty="0" err="1"/>
              <a:t>permettre</a:t>
            </a:r>
            <a:r>
              <a:rPr lang="en-GB" dirty="0"/>
              <a:t> 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Créer</a:t>
            </a:r>
            <a:r>
              <a:rPr lang="en-GB" dirty="0"/>
              <a:t> un </a:t>
            </a:r>
            <a:r>
              <a:rPr lang="en-GB" dirty="0" err="1"/>
              <a:t>utilisateur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Consulter un </a:t>
            </a:r>
            <a:r>
              <a:rPr lang="en-GB" dirty="0" err="1"/>
              <a:t>utilisateur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Modifier un </a:t>
            </a:r>
            <a:r>
              <a:rPr lang="en-GB" dirty="0" err="1"/>
              <a:t>utilisateur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Supprimer</a:t>
            </a:r>
            <a:r>
              <a:rPr lang="en-GB" dirty="0"/>
              <a:t> un </a:t>
            </a:r>
            <a:r>
              <a:rPr lang="en-GB" dirty="0" err="1"/>
              <a:t>utilisateur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Gérer</a:t>
            </a:r>
            <a:r>
              <a:rPr lang="en-GB" dirty="0"/>
              <a:t> les </a:t>
            </a:r>
            <a:r>
              <a:rPr lang="en-GB" dirty="0" err="1"/>
              <a:t>profils</a:t>
            </a:r>
            <a:r>
              <a:rPr lang="en-GB" dirty="0"/>
              <a:t> : </a:t>
            </a:r>
          </a:p>
          <a:p>
            <a:pPr lvl="1"/>
            <a:r>
              <a:rPr lang="en-GB" dirty="0" err="1"/>
              <a:t>Étudiant</a:t>
            </a:r>
            <a:endParaRPr lang="en-GB" dirty="0"/>
          </a:p>
          <a:p>
            <a:pPr lvl="1"/>
            <a:r>
              <a:rPr lang="en-GB" dirty="0" err="1"/>
              <a:t>Professeur</a:t>
            </a:r>
            <a:endParaRPr lang="en-GB" dirty="0"/>
          </a:p>
          <a:p>
            <a:pPr lvl="1"/>
            <a:r>
              <a:rPr lang="en-GB" dirty="0"/>
              <a:t>Personnel </a:t>
            </a:r>
            <a:r>
              <a:rPr lang="en-GB" dirty="0" err="1"/>
              <a:t>administratif</a:t>
            </a:r>
            <a:endParaRPr lang="en-GB" dirty="0"/>
          </a:p>
          <a:p>
            <a:endParaRPr lang="fr-FR" dirty="0"/>
          </a:p>
        </p:txBody>
      </p:sp>
      <p:sp>
        <p:nvSpPr>
          <p:cNvPr id="22" name="Shape 22"/>
          <p:cNvSpPr/>
          <p:nvPr/>
        </p:nvSpPr>
        <p:spPr>
          <a:xfrm>
            <a:off x="6008171" y="1509310"/>
            <a:ext cx="3028806" cy="4238949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3" name="Oval 23"/>
          <p:cNvSpPr/>
          <p:nvPr/>
        </p:nvSpPr>
        <p:spPr>
          <a:xfrm>
            <a:off x="6115455" y="1620001"/>
            <a:ext cx="560000" cy="56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Box 24"/>
          <p:cNvSpPr txBox="1"/>
          <p:nvPr/>
        </p:nvSpPr>
        <p:spPr>
          <a:xfrm>
            <a:off x="6115455" y="1620001"/>
            <a:ext cx="560000" cy="56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4261" y="1732316"/>
            <a:ext cx="2210000" cy="38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500" b="1" dirty="0">
                <a:solidFill>
                  <a:srgbClr val="1F2A30"/>
                </a:solidFill>
                <a:latin typeface="Calibri"/>
              </a:rPr>
              <a:t>Gestion des emprunts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30160" y="2322215"/>
            <a:ext cx="2871345" cy="183878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>
            <a:defPPr>
              <a:defRPr lang="fr-FR"/>
            </a:defPPr>
            <a:lvl1pPr fontAlgn="t">
              <a:lnSpc>
                <a:spcPts val="1500"/>
              </a:lnSpc>
              <a:buNone/>
              <a:defRPr sz="1500">
                <a:solidFill>
                  <a:srgbClr val="1F2A30"/>
                </a:solidFill>
                <a:latin typeface="Calibri"/>
              </a:defRPr>
            </a:lvl1pPr>
            <a:lvl2pPr marL="742950" lvl="1" indent="-285750" fontAlgn="t">
              <a:lnSpc>
                <a:spcPts val="1500"/>
              </a:lnSpc>
              <a:buFont typeface="Arial" panose="020B0604020202020204" pitchFamily="34" charset="0"/>
              <a:buChar char="•"/>
              <a:defRPr sz="1500">
                <a:solidFill>
                  <a:srgbClr val="1F2A30"/>
                </a:solidFill>
                <a:latin typeface="Calibri"/>
              </a:defRPr>
            </a:lvl2pPr>
          </a:lstStyle>
          <a:p>
            <a:r>
              <a:rPr lang="en-GB" dirty="0"/>
              <a:t>Le </a:t>
            </a:r>
            <a:r>
              <a:rPr lang="en-GB" dirty="0" err="1"/>
              <a:t>système</a:t>
            </a:r>
            <a:r>
              <a:rPr lang="en-GB" dirty="0"/>
              <a:t> doit </a:t>
            </a:r>
            <a:r>
              <a:rPr lang="en-GB" dirty="0" err="1"/>
              <a:t>permettre</a:t>
            </a:r>
            <a:r>
              <a:rPr lang="en-GB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Emprunter</a:t>
            </a:r>
            <a:r>
              <a:rPr lang="en-GB" dirty="0"/>
              <a:t> un livre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Retourner</a:t>
            </a:r>
            <a:r>
              <a:rPr lang="en-GB" dirty="0"/>
              <a:t> un livre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Consulter </a:t>
            </a:r>
            <a:r>
              <a:rPr lang="en-GB" dirty="0" err="1"/>
              <a:t>l'historique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Détecter</a:t>
            </a:r>
            <a:r>
              <a:rPr lang="en-GB" dirty="0"/>
              <a:t> les retards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Calculer</a:t>
            </a:r>
            <a:r>
              <a:rPr lang="en-GB" dirty="0"/>
              <a:t> les </a:t>
            </a:r>
            <a:r>
              <a:rPr lang="en-GB" dirty="0" err="1"/>
              <a:t>échéances</a:t>
            </a:r>
            <a:endParaRPr lang="en-GB" dirty="0"/>
          </a:p>
        </p:txBody>
      </p:sp>
      <p:sp>
        <p:nvSpPr>
          <p:cNvPr id="42" name="Footer"/>
          <p:cNvSpPr/>
          <p:nvPr/>
        </p:nvSpPr>
        <p:spPr>
          <a:xfrm>
            <a:off x="457200" y="6629400"/>
            <a:ext cx="6800000" cy="18288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000">
                <a:solidFill>
                  <a:srgbClr val="5B6B70"/>
                </a:solidFill>
                <a:latin typeface="Calibri"/>
              </a:rPr>
              <a:t>Station météo + alarme - Thème 5 | Master 1 IA - DIT Dakar</a:t>
            </a:r>
          </a:p>
        </p:txBody>
      </p:sp>
      <p:sp>
        <p:nvSpPr>
          <p:cNvPr id="43" name="PageNum"/>
          <p:cNvSpPr/>
          <p:nvPr/>
        </p:nvSpPr>
        <p:spPr>
          <a:xfrm>
            <a:off x="8686800" y="6629400"/>
            <a:ext cx="300000" cy="182880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DDE5C338-0BD7-4683-B3D7-D7753D5E86DF}" type="slidenum">
              <a:rPr lang="fr-FR" sz="1000">
                <a:solidFill>
                  <a:srgbClr val="5B6B70"/>
                </a:solidFill>
                <a:latin typeface="Calibri"/>
              </a:rPr>
              <a:t>5</a:t>
            </a:fld>
            <a:endParaRPr lang="fr-FR" sz="100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3" name="Oval 18">
            <a:extLst>
              <a:ext uri="{FF2B5EF4-FFF2-40B4-BE49-F238E27FC236}">
                <a16:creationId xmlns:a16="http://schemas.microsoft.com/office/drawing/2014/main" id="{BBB1D532-FC6A-3D5E-E687-EAA5A6A9FB94}"/>
              </a:ext>
            </a:extLst>
          </p:cNvPr>
          <p:cNvSpPr/>
          <p:nvPr/>
        </p:nvSpPr>
        <p:spPr>
          <a:xfrm>
            <a:off x="215530" y="227718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41276153-675C-820E-F7AE-82D54FBAED9C}"/>
              </a:ext>
            </a:extLst>
          </p:cNvPr>
          <p:cNvSpPr txBox="1"/>
          <p:nvPr/>
        </p:nvSpPr>
        <p:spPr>
          <a:xfrm>
            <a:off x="215530" y="227718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3</a:t>
            </a: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id="{FEBF2643-89E5-EF90-1AF3-422FA7401497}"/>
              </a:ext>
            </a:extLst>
          </p:cNvPr>
          <p:cNvSpPr txBox="1"/>
          <p:nvPr/>
        </p:nvSpPr>
        <p:spPr>
          <a:xfrm>
            <a:off x="829730" y="227718"/>
            <a:ext cx="4456373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sz="3200" b="1" dirty="0">
                <a:solidFill>
                  <a:srgbClr val="08464C"/>
                </a:solidFill>
                <a:latin typeface="Calibri"/>
              </a:rPr>
              <a:t>Analyse des </a:t>
            </a:r>
            <a:r>
              <a:rPr lang="en-GB" sz="3200" b="1" dirty="0" err="1">
                <a:solidFill>
                  <a:srgbClr val="08464C"/>
                </a:solidFill>
                <a:latin typeface="Calibri"/>
              </a:rPr>
              <a:t>besoins</a:t>
            </a:r>
            <a:endParaRPr lang="fr-FR" sz="3200" b="1" dirty="0">
              <a:solidFill>
                <a:srgbClr val="08464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71600" y="583907"/>
            <a:ext cx="5514703" cy="460839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sz="1500" b="0" dirty="0"/>
              <a:t>Le </a:t>
            </a:r>
            <a:r>
              <a:rPr lang="en-GB" sz="1500" b="0" dirty="0" err="1"/>
              <a:t>système</a:t>
            </a:r>
            <a:r>
              <a:rPr lang="en-GB" sz="1500" b="0" dirty="0"/>
              <a:t> </a:t>
            </a:r>
            <a:r>
              <a:rPr lang="en-GB" sz="1500" b="0" dirty="0" err="1"/>
              <a:t>adopte</a:t>
            </a:r>
            <a:r>
              <a:rPr lang="en-GB" sz="1500" b="0" dirty="0"/>
              <a:t> </a:t>
            </a:r>
            <a:r>
              <a:rPr lang="en-GB" sz="1500" b="0" dirty="0" err="1"/>
              <a:t>une</a:t>
            </a:r>
            <a:r>
              <a:rPr lang="en-GB" sz="1500" b="0" dirty="0"/>
              <a:t> architecture microservices.</a:t>
            </a:r>
          </a:p>
        </p:txBody>
      </p:sp>
      <p:sp>
        <p:nvSpPr>
          <p:cNvPr id="12" name="Oval 12"/>
          <p:cNvSpPr/>
          <p:nvPr/>
        </p:nvSpPr>
        <p:spPr>
          <a:xfrm>
            <a:off x="3907971" y="1044746"/>
            <a:ext cx="1508760" cy="1406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3949788" y="1318000"/>
            <a:ext cx="150876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sz="1600" dirty="0"/>
              <a:t>Frontend </a:t>
            </a:r>
          </a:p>
          <a:p>
            <a:r>
              <a:rPr lang="en-GB" sz="1600" dirty="0"/>
              <a:t>HTML / CSS / JS</a:t>
            </a:r>
            <a:endParaRPr lang="fr-FR"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Arrow 18"/>
          <p:cNvSpPr/>
          <p:nvPr/>
        </p:nvSpPr>
        <p:spPr>
          <a:xfrm rot="5237621">
            <a:off x="4462351" y="2554000"/>
            <a:ext cx="400000" cy="340000"/>
          </a:xfrm>
          <a:prstGeom prst="rightArrow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1" name="Footer"/>
          <p:cNvSpPr/>
          <p:nvPr/>
        </p:nvSpPr>
        <p:spPr>
          <a:xfrm>
            <a:off x="457200" y="6629400"/>
            <a:ext cx="6800000" cy="18288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000">
                <a:solidFill>
                  <a:srgbClr val="5B6B70"/>
                </a:solidFill>
                <a:latin typeface="Calibri"/>
              </a:rPr>
              <a:t>Station météo + alarme - Thème 5 | Master 1 IA - DIT Dakar</a:t>
            </a:r>
          </a:p>
        </p:txBody>
      </p:sp>
      <p:sp>
        <p:nvSpPr>
          <p:cNvPr id="32" name="PageNum"/>
          <p:cNvSpPr/>
          <p:nvPr/>
        </p:nvSpPr>
        <p:spPr>
          <a:xfrm>
            <a:off x="8686800" y="6629400"/>
            <a:ext cx="300000" cy="182880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DDE5C338-0BD7-4683-B3D7-D7753D5E86DF}" type="slidenum">
              <a:rPr lang="fr-FR" sz="1000">
                <a:solidFill>
                  <a:srgbClr val="5B6B70"/>
                </a:solidFill>
                <a:latin typeface="Calibri"/>
              </a:rPr>
              <a:t>6</a:t>
            </a:fld>
            <a:endParaRPr lang="fr-FR" sz="100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3" name="Oval 21">
            <a:extLst>
              <a:ext uri="{FF2B5EF4-FFF2-40B4-BE49-F238E27FC236}">
                <a16:creationId xmlns:a16="http://schemas.microsoft.com/office/drawing/2014/main" id="{F6CFBFD1-EBF8-FF64-F2B5-A1C9E7B89AC3}"/>
              </a:ext>
            </a:extLst>
          </p:cNvPr>
          <p:cNvSpPr/>
          <p:nvPr/>
        </p:nvSpPr>
        <p:spPr>
          <a:xfrm>
            <a:off x="71600" y="143907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74087EA5-CFA8-59FE-6AD0-A14A76982331}"/>
              </a:ext>
            </a:extLst>
          </p:cNvPr>
          <p:cNvSpPr txBox="1"/>
          <p:nvPr/>
        </p:nvSpPr>
        <p:spPr>
          <a:xfrm>
            <a:off x="71600" y="143907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4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574370E6-5A3E-CC08-3C5E-C9CB4E2EFB90}"/>
              </a:ext>
            </a:extLst>
          </p:cNvPr>
          <p:cNvSpPr txBox="1"/>
          <p:nvPr/>
        </p:nvSpPr>
        <p:spPr>
          <a:xfrm>
            <a:off x="685800" y="143907"/>
            <a:ext cx="431292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Architecture du </a:t>
            </a:r>
            <a:r>
              <a:rPr lang="en-GB" dirty="0" err="1"/>
              <a:t>système</a:t>
            </a:r>
            <a:endParaRPr lang="fr-FR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079E86-72B9-F41C-0D82-2F5C6FD817D5}"/>
              </a:ext>
            </a:extLst>
          </p:cNvPr>
          <p:cNvCxnSpPr/>
          <p:nvPr/>
        </p:nvCxnSpPr>
        <p:spPr>
          <a:xfrm>
            <a:off x="1471749" y="3065417"/>
            <a:ext cx="6723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 18">
            <a:extLst>
              <a:ext uri="{FF2B5EF4-FFF2-40B4-BE49-F238E27FC236}">
                <a16:creationId xmlns:a16="http://schemas.microsoft.com/office/drawing/2014/main" id="{053489F9-860F-12E5-1ECD-BA232A432459}"/>
              </a:ext>
            </a:extLst>
          </p:cNvPr>
          <p:cNvSpPr/>
          <p:nvPr/>
        </p:nvSpPr>
        <p:spPr>
          <a:xfrm rot="5237621">
            <a:off x="1451003" y="3242560"/>
            <a:ext cx="400000" cy="340000"/>
          </a:xfrm>
          <a:prstGeom prst="rightArrow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5" name="Arrow 18">
            <a:extLst>
              <a:ext uri="{FF2B5EF4-FFF2-40B4-BE49-F238E27FC236}">
                <a16:creationId xmlns:a16="http://schemas.microsoft.com/office/drawing/2014/main" id="{993B04E5-83D2-62B6-D4F5-A8FCCFAA74E5}"/>
              </a:ext>
            </a:extLst>
          </p:cNvPr>
          <p:cNvSpPr/>
          <p:nvPr/>
        </p:nvSpPr>
        <p:spPr>
          <a:xfrm rot="5237621">
            <a:off x="4499000" y="3236835"/>
            <a:ext cx="400000" cy="340000"/>
          </a:xfrm>
          <a:prstGeom prst="rightArrow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7" name="Arrow 18">
            <a:extLst>
              <a:ext uri="{FF2B5EF4-FFF2-40B4-BE49-F238E27FC236}">
                <a16:creationId xmlns:a16="http://schemas.microsoft.com/office/drawing/2014/main" id="{672C4E14-1739-3116-2279-F31F6984F773}"/>
              </a:ext>
            </a:extLst>
          </p:cNvPr>
          <p:cNvSpPr/>
          <p:nvPr/>
        </p:nvSpPr>
        <p:spPr>
          <a:xfrm rot="5237621">
            <a:off x="7815512" y="3236835"/>
            <a:ext cx="400000" cy="340000"/>
          </a:xfrm>
          <a:prstGeom prst="rightArrow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CEA346E-A447-2AE9-E608-769C29BB8551}"/>
              </a:ext>
            </a:extLst>
          </p:cNvPr>
          <p:cNvSpPr/>
          <p:nvPr/>
        </p:nvSpPr>
        <p:spPr>
          <a:xfrm>
            <a:off x="862137" y="3779514"/>
            <a:ext cx="1611086" cy="705395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Microservice Livres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DF934CB-6CF6-2A16-8139-83BE2D3C7461}"/>
              </a:ext>
            </a:extLst>
          </p:cNvPr>
          <p:cNvSpPr/>
          <p:nvPr/>
        </p:nvSpPr>
        <p:spPr>
          <a:xfrm>
            <a:off x="3975217" y="3733789"/>
            <a:ext cx="1611086" cy="705395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Microservice Utilisateurs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400D42B-A29F-03C3-F8B7-B1590D67C4F4}"/>
              </a:ext>
            </a:extLst>
          </p:cNvPr>
          <p:cNvSpPr/>
          <p:nvPr/>
        </p:nvSpPr>
        <p:spPr>
          <a:xfrm>
            <a:off x="7209969" y="3748252"/>
            <a:ext cx="1611086" cy="705395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Microservice </a:t>
            </a:r>
            <a:r>
              <a:rPr lang="en-GB" dirty="0" err="1"/>
              <a:t>Emprunts</a:t>
            </a:r>
            <a:endParaRPr lang="en-GB" dirty="0"/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8C5FE54A-23F6-EA55-D1AF-721100BBD850}"/>
              </a:ext>
            </a:extLst>
          </p:cNvPr>
          <p:cNvSpPr txBox="1"/>
          <p:nvPr/>
        </p:nvSpPr>
        <p:spPr>
          <a:xfrm>
            <a:off x="1213418" y="4509729"/>
            <a:ext cx="101597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sz="1500" dirty="0"/>
              <a:t>Port 8000</a:t>
            </a:r>
            <a:endParaRPr lang="fr-FR" sz="1500" dirty="0"/>
          </a:p>
        </p:txBody>
      </p:sp>
      <p:sp>
        <p:nvSpPr>
          <p:cNvPr id="46" name="TextBox 23">
            <a:extLst>
              <a:ext uri="{FF2B5EF4-FFF2-40B4-BE49-F238E27FC236}">
                <a16:creationId xmlns:a16="http://schemas.microsoft.com/office/drawing/2014/main" id="{10EA6A54-1F80-C5DD-5837-A0B2F31CA39A}"/>
              </a:ext>
            </a:extLst>
          </p:cNvPr>
          <p:cNvSpPr txBox="1"/>
          <p:nvPr/>
        </p:nvSpPr>
        <p:spPr>
          <a:xfrm>
            <a:off x="4318030" y="4514080"/>
            <a:ext cx="101597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sz="1500" dirty="0"/>
              <a:t>Port 8001</a:t>
            </a:r>
            <a:endParaRPr lang="fr-FR" sz="1500" dirty="0"/>
          </a:p>
        </p:txBody>
      </p:sp>
      <p:sp>
        <p:nvSpPr>
          <p:cNvPr id="48" name="TextBox 23">
            <a:extLst>
              <a:ext uri="{FF2B5EF4-FFF2-40B4-BE49-F238E27FC236}">
                <a16:creationId xmlns:a16="http://schemas.microsoft.com/office/drawing/2014/main" id="{41098568-0047-9505-DE20-DF2C205E7157}"/>
              </a:ext>
            </a:extLst>
          </p:cNvPr>
          <p:cNvSpPr txBox="1"/>
          <p:nvPr/>
        </p:nvSpPr>
        <p:spPr>
          <a:xfrm>
            <a:off x="7618589" y="4514080"/>
            <a:ext cx="101597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sz="1500" dirty="0"/>
              <a:t>Port 8002</a:t>
            </a:r>
            <a:endParaRPr lang="fr-FR" sz="1500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0648788-2A25-E243-3C52-1303CEE56FDA}"/>
              </a:ext>
            </a:extLst>
          </p:cNvPr>
          <p:cNvCxnSpPr>
            <a:cxnSpLocks/>
          </p:cNvCxnSpPr>
          <p:nvPr/>
        </p:nvCxnSpPr>
        <p:spPr>
          <a:xfrm>
            <a:off x="1830257" y="4919617"/>
            <a:ext cx="2261223" cy="1010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4DB6EEE-9A0A-9810-88A7-41AC2A81ECAA}"/>
              </a:ext>
            </a:extLst>
          </p:cNvPr>
          <p:cNvCxnSpPr>
            <a:cxnSpLocks/>
            <a:stCxn id="48" idx="2"/>
          </p:cNvCxnSpPr>
          <p:nvPr/>
        </p:nvCxnSpPr>
        <p:spPr>
          <a:xfrm flipH="1">
            <a:off x="5702566" y="4934080"/>
            <a:ext cx="2424012" cy="1074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12">
            <a:extLst>
              <a:ext uri="{FF2B5EF4-FFF2-40B4-BE49-F238E27FC236}">
                <a16:creationId xmlns:a16="http://schemas.microsoft.com/office/drawing/2014/main" id="{6F3E0E8C-0174-82F1-8347-383371C16DBB}"/>
              </a:ext>
            </a:extLst>
          </p:cNvPr>
          <p:cNvSpPr/>
          <p:nvPr/>
        </p:nvSpPr>
        <p:spPr>
          <a:xfrm>
            <a:off x="4091480" y="5647693"/>
            <a:ext cx="1611086" cy="935982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r>
              <a:rPr lang="fr-FR" sz="1500" dirty="0"/>
              <a:t>PostgreSQL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637517D-41C6-D31E-F51C-897618825E64}"/>
              </a:ext>
            </a:extLst>
          </p:cNvPr>
          <p:cNvCxnSpPr>
            <a:cxnSpLocks/>
          </p:cNvCxnSpPr>
          <p:nvPr/>
        </p:nvCxnSpPr>
        <p:spPr>
          <a:xfrm flipH="1">
            <a:off x="4841605" y="4782182"/>
            <a:ext cx="17776" cy="865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272DCCD8-55CF-0653-CFE7-EB475BD206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745099"/>
              </p:ext>
            </p:extLst>
          </p:nvPr>
        </p:nvGraphicFramePr>
        <p:xfrm>
          <a:off x="6524353" y="666206"/>
          <a:ext cx="2296702" cy="1234440"/>
        </p:xfrm>
        <a:graphic>
          <a:graphicData uri="http://schemas.openxmlformats.org/drawingml/2006/table">
            <a:tbl>
              <a:tblPr/>
              <a:tblGrid>
                <a:gridCol w="2296702">
                  <a:extLst>
                    <a:ext uri="{9D8B030D-6E8A-4147-A177-3AD203B41FA5}">
                      <a16:colId xmlns:a16="http://schemas.microsoft.com/office/drawing/2014/main" val="17311392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Cette architecture 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offre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: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meilleure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modularité</a:t>
                      </a:r>
                      <a:endParaRPr lang="en-GB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Une maintenance 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simplifiée</a:t>
                      </a:r>
                      <a:endParaRPr lang="en-GB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indépendance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des services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Une 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meilleure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évolutivité</a:t>
                      </a:r>
                      <a:endParaRPr lang="en-GB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2206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4">
            <a:extLst>
              <a:ext uri="{FF2B5EF4-FFF2-40B4-BE49-F238E27FC236}">
                <a16:creationId xmlns:a16="http://schemas.microsoft.com/office/drawing/2014/main" id="{BE10DD64-1A42-0697-549A-56283E55E333}"/>
              </a:ext>
            </a:extLst>
          </p:cNvPr>
          <p:cNvSpPr/>
          <p:nvPr/>
        </p:nvSpPr>
        <p:spPr>
          <a:xfrm>
            <a:off x="76193" y="20498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5">
            <a:extLst>
              <a:ext uri="{FF2B5EF4-FFF2-40B4-BE49-F238E27FC236}">
                <a16:creationId xmlns:a16="http://schemas.microsoft.com/office/drawing/2014/main" id="{C6936BB3-A87F-0979-C22E-6F12F55E8BAC}"/>
              </a:ext>
            </a:extLst>
          </p:cNvPr>
          <p:cNvSpPr txBox="1"/>
          <p:nvPr/>
        </p:nvSpPr>
        <p:spPr>
          <a:xfrm>
            <a:off x="76193" y="20498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5</a:t>
            </a: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5391EB5D-FE41-F907-C102-5D3BEDE6AD7E}"/>
              </a:ext>
            </a:extLst>
          </p:cNvPr>
          <p:cNvSpPr txBox="1"/>
          <p:nvPr/>
        </p:nvSpPr>
        <p:spPr>
          <a:xfrm>
            <a:off x="690393" y="204984"/>
            <a:ext cx="5849744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Description des microservices</a:t>
            </a:r>
            <a:endParaRPr lang="fr-FR" dirty="0"/>
          </a:p>
        </p:txBody>
      </p:sp>
      <p:sp>
        <p:nvSpPr>
          <p:cNvPr id="11" name="Oval 24">
            <a:extLst>
              <a:ext uri="{FF2B5EF4-FFF2-40B4-BE49-F238E27FC236}">
                <a16:creationId xmlns:a16="http://schemas.microsoft.com/office/drawing/2014/main" id="{CC9A40E1-55BC-B8E7-4739-1DB202C705CA}"/>
              </a:ext>
            </a:extLst>
          </p:cNvPr>
          <p:cNvSpPr/>
          <p:nvPr/>
        </p:nvSpPr>
        <p:spPr>
          <a:xfrm>
            <a:off x="855852" y="757978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AD36D763-4990-CBBE-ED33-17C4896E5504}"/>
              </a:ext>
            </a:extLst>
          </p:cNvPr>
          <p:cNvSpPr txBox="1"/>
          <p:nvPr/>
        </p:nvSpPr>
        <p:spPr>
          <a:xfrm>
            <a:off x="855852" y="757978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200" b="1" dirty="0">
                <a:solidFill>
                  <a:srgbClr val="0A6E77"/>
                </a:solidFill>
                <a:latin typeface="Calibri"/>
              </a:rPr>
              <a:t> 5.1</a:t>
            </a: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27CF5AAD-3797-8B70-5E30-DD494F0406ED}"/>
              </a:ext>
            </a:extLst>
          </p:cNvPr>
          <p:cNvSpPr txBox="1"/>
          <p:nvPr/>
        </p:nvSpPr>
        <p:spPr>
          <a:xfrm>
            <a:off x="1470052" y="757978"/>
            <a:ext cx="2300756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sz="2000" dirty="0"/>
              <a:t>Microservice Livres</a:t>
            </a:r>
            <a:endParaRPr lang="fr-FR" sz="20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72FAA2F2-D94B-8A99-1759-E2B36B1F7F4F}"/>
              </a:ext>
            </a:extLst>
          </p:cNvPr>
          <p:cNvSpPr/>
          <p:nvPr/>
        </p:nvSpPr>
        <p:spPr>
          <a:xfrm>
            <a:off x="119739" y="1500000"/>
            <a:ext cx="2074821" cy="423894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dirty="0"/>
              <a:t>Le microservice Livres </a:t>
            </a:r>
            <a:r>
              <a:rPr lang="en-GB" sz="1050" dirty="0" err="1"/>
              <a:t>permet</a:t>
            </a:r>
            <a:r>
              <a:rPr lang="en-GB" sz="1050" dirty="0"/>
              <a:t> la gestion </a:t>
            </a:r>
            <a:r>
              <a:rPr lang="en-GB" sz="1050" dirty="0" err="1"/>
              <a:t>complète</a:t>
            </a:r>
            <a:r>
              <a:rPr lang="en-GB" sz="1050" dirty="0"/>
              <a:t> des </a:t>
            </a:r>
            <a:r>
              <a:rPr lang="en-GB" sz="1050" dirty="0" err="1"/>
              <a:t>ouvrages</a:t>
            </a:r>
            <a:r>
              <a:rPr lang="en-GB" sz="1050" dirty="0"/>
              <a:t>.</a:t>
            </a:r>
          </a:p>
          <a:p>
            <a:pPr fontAlgn="t">
              <a:lnSpc>
                <a:spcPts val="1500"/>
              </a:lnSpc>
              <a:buNone/>
            </a:pPr>
            <a:endParaRPr lang="en-GB" sz="1050" b="1" dirty="0"/>
          </a:p>
          <a:p>
            <a:pPr fontAlgn="t">
              <a:lnSpc>
                <a:spcPts val="1500"/>
              </a:lnSpc>
              <a:buNone/>
            </a:pPr>
            <a:r>
              <a:rPr lang="en-GB" sz="1050" b="1" u="sng" dirty="0"/>
              <a:t>Endpoints </a:t>
            </a:r>
            <a:r>
              <a:rPr lang="en-GB" sz="1050" b="1" u="sng" dirty="0" err="1"/>
              <a:t>principaux</a:t>
            </a:r>
            <a:endParaRPr lang="en-GB" sz="1050" b="1" u="sng" dirty="0"/>
          </a:p>
          <a:p>
            <a:r>
              <a:rPr lang="en-GB" sz="1200" b="1" dirty="0"/>
              <a:t>GET         /books</a:t>
            </a:r>
          </a:p>
          <a:p>
            <a:r>
              <a:rPr lang="en-GB" sz="1200" b="1" dirty="0"/>
              <a:t>POST      /books</a:t>
            </a:r>
          </a:p>
          <a:p>
            <a:r>
              <a:rPr lang="en-GB" sz="1200" b="1" dirty="0"/>
              <a:t>PUT        /books/{id}</a:t>
            </a:r>
          </a:p>
          <a:p>
            <a:r>
              <a:rPr lang="en-GB" sz="1200" b="1" dirty="0"/>
              <a:t>DELETE  /books/{id}</a:t>
            </a:r>
          </a:p>
          <a:p>
            <a:r>
              <a:rPr lang="en-GB" sz="1200" b="1" dirty="0"/>
              <a:t>DELETE  /borrow/{id}</a:t>
            </a:r>
          </a:p>
          <a:p>
            <a:r>
              <a:rPr lang="en-GB" sz="1200" b="1" dirty="0"/>
              <a:t>GET        /books/search</a:t>
            </a:r>
          </a:p>
          <a:p>
            <a:pPr fontAlgn="t">
              <a:lnSpc>
                <a:spcPts val="1500"/>
              </a:lnSpc>
              <a:buNone/>
            </a:pPr>
            <a:endParaRPr lang="en-GB" sz="1050" b="1" dirty="0"/>
          </a:p>
          <a:p>
            <a:pPr fontAlgn="t">
              <a:lnSpc>
                <a:spcPts val="1500"/>
              </a:lnSpc>
              <a:buNone/>
            </a:pPr>
            <a:r>
              <a:rPr lang="en-GB" sz="1050" b="1" u="sng" dirty="0" err="1"/>
              <a:t>Fonctionnalités</a:t>
            </a:r>
            <a:endParaRPr lang="en-GB" sz="1050" b="1" u="sng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Ajout</a:t>
            </a:r>
            <a:r>
              <a:rPr lang="en-GB" sz="1050" dirty="0"/>
              <a:t> de livres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Modification de livres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Suppression de livres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Suppression </a:t>
            </a:r>
            <a:r>
              <a:rPr lang="en-GB" sz="1050" dirty="0" err="1"/>
              <a:t>emprunts</a:t>
            </a:r>
            <a:endParaRPr lang="en-GB" sz="1050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Recherche </a:t>
            </a:r>
            <a:r>
              <a:rPr lang="en-GB" sz="1050" dirty="0" err="1"/>
              <a:t>avancée</a:t>
            </a:r>
            <a:endParaRPr lang="en-GB" sz="1050" dirty="0"/>
          </a:p>
          <a:p>
            <a:endParaRPr lang="fr-FR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F84515D-7C9E-B712-EAD4-97F6DFF16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1547627"/>
            <a:ext cx="6888480" cy="405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12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E5FB-690B-6554-2A89-5C4625B01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4">
            <a:extLst>
              <a:ext uri="{FF2B5EF4-FFF2-40B4-BE49-F238E27FC236}">
                <a16:creationId xmlns:a16="http://schemas.microsoft.com/office/drawing/2014/main" id="{1D4AE0FD-4763-0EEE-F3E1-54918F94E0FB}"/>
              </a:ext>
            </a:extLst>
          </p:cNvPr>
          <p:cNvSpPr/>
          <p:nvPr/>
        </p:nvSpPr>
        <p:spPr>
          <a:xfrm>
            <a:off x="76193" y="20498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5">
            <a:extLst>
              <a:ext uri="{FF2B5EF4-FFF2-40B4-BE49-F238E27FC236}">
                <a16:creationId xmlns:a16="http://schemas.microsoft.com/office/drawing/2014/main" id="{BE7572A9-6801-961E-4C1B-819EE802EA3B}"/>
              </a:ext>
            </a:extLst>
          </p:cNvPr>
          <p:cNvSpPr txBox="1"/>
          <p:nvPr/>
        </p:nvSpPr>
        <p:spPr>
          <a:xfrm>
            <a:off x="76193" y="20498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5</a:t>
            </a: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4FB6ADFA-2C75-D70A-3C66-F10A655DDCAF}"/>
              </a:ext>
            </a:extLst>
          </p:cNvPr>
          <p:cNvSpPr txBox="1"/>
          <p:nvPr/>
        </p:nvSpPr>
        <p:spPr>
          <a:xfrm>
            <a:off x="690393" y="204984"/>
            <a:ext cx="5849744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Description des microservices</a:t>
            </a:r>
            <a:endParaRPr lang="fr-FR" dirty="0"/>
          </a:p>
        </p:txBody>
      </p:sp>
      <p:sp>
        <p:nvSpPr>
          <p:cNvPr id="11" name="Oval 24">
            <a:extLst>
              <a:ext uri="{FF2B5EF4-FFF2-40B4-BE49-F238E27FC236}">
                <a16:creationId xmlns:a16="http://schemas.microsoft.com/office/drawing/2014/main" id="{D56D96FA-60FD-5FEC-6E29-A4E1FE41D997}"/>
              </a:ext>
            </a:extLst>
          </p:cNvPr>
          <p:cNvSpPr/>
          <p:nvPr/>
        </p:nvSpPr>
        <p:spPr>
          <a:xfrm>
            <a:off x="855852" y="757978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C0B6A6C0-AD7F-E97B-7DF0-45039CE787D4}"/>
              </a:ext>
            </a:extLst>
          </p:cNvPr>
          <p:cNvSpPr txBox="1"/>
          <p:nvPr/>
        </p:nvSpPr>
        <p:spPr>
          <a:xfrm>
            <a:off x="855852" y="757978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200" b="1" dirty="0">
                <a:solidFill>
                  <a:srgbClr val="0A6E77"/>
                </a:solidFill>
                <a:latin typeface="Calibri"/>
              </a:rPr>
              <a:t> 5.2</a:t>
            </a: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5C8D30AD-9FC1-0EF9-4AA1-9C76B1FC7ACD}"/>
              </a:ext>
            </a:extLst>
          </p:cNvPr>
          <p:cNvSpPr txBox="1"/>
          <p:nvPr/>
        </p:nvSpPr>
        <p:spPr>
          <a:xfrm>
            <a:off x="1470052" y="757978"/>
            <a:ext cx="2884234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sz="2000" dirty="0"/>
              <a:t>Microservice Utilisateurs</a:t>
            </a:r>
            <a:endParaRPr lang="fr-FR" sz="20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FD90F7C8-CF54-35AE-BBB2-513A7594D78F}"/>
              </a:ext>
            </a:extLst>
          </p:cNvPr>
          <p:cNvSpPr/>
          <p:nvPr/>
        </p:nvSpPr>
        <p:spPr>
          <a:xfrm>
            <a:off x="119739" y="1500000"/>
            <a:ext cx="2109655" cy="423894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dirty="0"/>
              <a:t>Le microservice Utilisateurs </a:t>
            </a:r>
            <a:r>
              <a:rPr lang="en-GB" sz="1050" dirty="0" err="1"/>
              <a:t>permet</a:t>
            </a:r>
            <a:r>
              <a:rPr lang="en-GB" sz="1050" dirty="0"/>
              <a:t> la gestion des </a:t>
            </a:r>
            <a:r>
              <a:rPr lang="en-GB" sz="1050" dirty="0" err="1"/>
              <a:t>profils</a:t>
            </a:r>
            <a:r>
              <a:rPr lang="en-GB" sz="1050" dirty="0"/>
              <a:t>.</a:t>
            </a:r>
          </a:p>
          <a:p>
            <a:pPr fontAlgn="t">
              <a:lnSpc>
                <a:spcPts val="1500"/>
              </a:lnSpc>
              <a:buNone/>
            </a:pPr>
            <a:endParaRPr lang="en-GB" sz="1050" b="1" dirty="0"/>
          </a:p>
          <a:p>
            <a:pPr fontAlgn="t">
              <a:lnSpc>
                <a:spcPts val="1500"/>
              </a:lnSpc>
              <a:buNone/>
            </a:pPr>
            <a:r>
              <a:rPr lang="en-GB" sz="1050" b="1" u="sng" dirty="0"/>
              <a:t>Endpoints </a:t>
            </a:r>
            <a:r>
              <a:rPr lang="en-GB" sz="1050" b="1" u="sng" dirty="0" err="1"/>
              <a:t>principaux</a:t>
            </a:r>
            <a:endParaRPr lang="en-GB" sz="1050" b="1" u="sng" dirty="0"/>
          </a:p>
          <a:p>
            <a:r>
              <a:rPr lang="en-GB" sz="1200" b="1" dirty="0"/>
              <a:t>GET     /users</a:t>
            </a:r>
          </a:p>
          <a:p>
            <a:r>
              <a:rPr lang="en-GB" sz="1200" b="1" dirty="0"/>
              <a:t>POST    /users</a:t>
            </a:r>
          </a:p>
          <a:p>
            <a:r>
              <a:rPr lang="en-GB" sz="1200" b="1" dirty="0"/>
              <a:t>GET     /users/{id}</a:t>
            </a:r>
          </a:p>
          <a:p>
            <a:r>
              <a:rPr lang="en-GB" sz="1200" b="1" dirty="0"/>
              <a:t>PUT     /users/{id}</a:t>
            </a:r>
          </a:p>
          <a:p>
            <a:r>
              <a:rPr lang="en-GB" sz="1200" b="1" dirty="0"/>
              <a:t>DELETE  /users/{id}</a:t>
            </a:r>
          </a:p>
          <a:p>
            <a:endParaRPr lang="en-GB" sz="1200" b="1" dirty="0"/>
          </a:p>
          <a:p>
            <a:pPr fontAlgn="t">
              <a:lnSpc>
                <a:spcPts val="1500"/>
              </a:lnSpc>
              <a:buNone/>
            </a:pPr>
            <a:endParaRPr lang="en-GB" sz="1050" b="1" dirty="0"/>
          </a:p>
          <a:p>
            <a:pPr fontAlgn="t">
              <a:lnSpc>
                <a:spcPts val="1500"/>
              </a:lnSpc>
              <a:buNone/>
            </a:pPr>
            <a:r>
              <a:rPr lang="en-GB" sz="1050" b="1" u="sng" dirty="0" err="1"/>
              <a:t>Fonctionnalités</a:t>
            </a:r>
            <a:endParaRPr lang="en-GB" sz="1050" b="1" u="sng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Création</a:t>
            </a:r>
            <a:r>
              <a:rPr lang="en-GB" sz="1050" dirty="0"/>
              <a:t> </a:t>
            </a:r>
            <a:r>
              <a:rPr lang="en-GB" sz="1050" dirty="0" err="1"/>
              <a:t>d'utilisateurs</a:t>
            </a:r>
            <a:endParaRPr lang="en-GB" sz="1050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Consultation des </a:t>
            </a:r>
            <a:r>
              <a:rPr lang="en-GB" sz="1050" dirty="0" err="1"/>
              <a:t>profils</a:t>
            </a:r>
            <a:endParaRPr lang="en-GB" sz="1050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Modification Suppression</a:t>
            </a:r>
          </a:p>
          <a:p>
            <a:pPr fontAlgn="t">
              <a:lnSpc>
                <a:spcPts val="1500"/>
              </a:lnSpc>
              <a:buNone/>
            </a:pPr>
            <a:endParaRPr lang="en-GB" sz="1050" b="1" u="sng" dirty="0"/>
          </a:p>
          <a:p>
            <a:pPr fontAlgn="t">
              <a:lnSpc>
                <a:spcPts val="1500"/>
              </a:lnSpc>
              <a:buNone/>
            </a:pPr>
            <a:r>
              <a:rPr lang="en-GB" sz="1050" b="1" u="sng" dirty="0"/>
              <a:t>Types </a:t>
            </a:r>
            <a:r>
              <a:rPr lang="en-GB" sz="1050" b="1" u="sng" dirty="0" err="1"/>
              <a:t>d'utilisateurs</a:t>
            </a:r>
            <a:endParaRPr lang="en-GB" sz="1050" b="1" u="sng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Étudiant</a:t>
            </a:r>
            <a:r>
              <a:rPr lang="en-GB" sz="1050" dirty="0"/>
              <a:t>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Professeur</a:t>
            </a:r>
            <a:r>
              <a:rPr lang="en-GB" sz="1050" dirty="0"/>
              <a:t>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Personnel </a:t>
            </a:r>
            <a:r>
              <a:rPr lang="en-GB" sz="1050" dirty="0" err="1"/>
              <a:t>administratif</a:t>
            </a:r>
            <a:endParaRPr lang="en-GB" sz="1050" dirty="0"/>
          </a:p>
          <a:p>
            <a:pPr fontAlgn="t">
              <a:lnSpc>
                <a:spcPts val="1500"/>
              </a:lnSpc>
              <a:buNone/>
            </a:pPr>
            <a:endParaRPr lang="en-GB" sz="1050" b="1" u="sng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050" dirty="0"/>
          </a:p>
          <a:p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CB0990-197F-FFFD-900B-06E0813BF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394" y="1792187"/>
            <a:ext cx="6914605" cy="327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80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AF078-D30B-D205-D4F9-8D5D1A7C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4">
            <a:extLst>
              <a:ext uri="{FF2B5EF4-FFF2-40B4-BE49-F238E27FC236}">
                <a16:creationId xmlns:a16="http://schemas.microsoft.com/office/drawing/2014/main" id="{6F194015-0FC0-81FD-3D9C-AC2A44CBD957}"/>
              </a:ext>
            </a:extLst>
          </p:cNvPr>
          <p:cNvSpPr/>
          <p:nvPr/>
        </p:nvSpPr>
        <p:spPr>
          <a:xfrm>
            <a:off x="76193" y="204984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5">
            <a:extLst>
              <a:ext uri="{FF2B5EF4-FFF2-40B4-BE49-F238E27FC236}">
                <a16:creationId xmlns:a16="http://schemas.microsoft.com/office/drawing/2014/main" id="{DE29E348-D3F4-7673-62FE-95A111B386EF}"/>
              </a:ext>
            </a:extLst>
          </p:cNvPr>
          <p:cNvSpPr txBox="1"/>
          <p:nvPr/>
        </p:nvSpPr>
        <p:spPr>
          <a:xfrm>
            <a:off x="76193" y="20498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5</a:t>
            </a: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8AF3D068-FA24-A643-E1F0-3B0581CAD974}"/>
              </a:ext>
            </a:extLst>
          </p:cNvPr>
          <p:cNvSpPr txBox="1"/>
          <p:nvPr/>
        </p:nvSpPr>
        <p:spPr>
          <a:xfrm>
            <a:off x="690393" y="204984"/>
            <a:ext cx="5849744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Description des microservices</a:t>
            </a:r>
            <a:endParaRPr lang="fr-FR" dirty="0"/>
          </a:p>
        </p:txBody>
      </p:sp>
      <p:sp>
        <p:nvSpPr>
          <p:cNvPr id="11" name="Oval 24">
            <a:extLst>
              <a:ext uri="{FF2B5EF4-FFF2-40B4-BE49-F238E27FC236}">
                <a16:creationId xmlns:a16="http://schemas.microsoft.com/office/drawing/2014/main" id="{A1664DC8-FA20-BF8A-98EC-753105A158BF}"/>
              </a:ext>
            </a:extLst>
          </p:cNvPr>
          <p:cNvSpPr/>
          <p:nvPr/>
        </p:nvSpPr>
        <p:spPr>
          <a:xfrm>
            <a:off x="855852" y="757978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2BC5BE62-9A33-1213-B29A-72619867916C}"/>
              </a:ext>
            </a:extLst>
          </p:cNvPr>
          <p:cNvSpPr txBox="1"/>
          <p:nvPr/>
        </p:nvSpPr>
        <p:spPr>
          <a:xfrm>
            <a:off x="855852" y="757978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200" b="1" dirty="0">
                <a:solidFill>
                  <a:srgbClr val="0A6E77"/>
                </a:solidFill>
                <a:latin typeface="Calibri"/>
              </a:rPr>
              <a:t> 5.3</a:t>
            </a:r>
          </a:p>
        </p:txBody>
      </p:sp>
      <p:sp>
        <p:nvSpPr>
          <p:cNvPr id="15" name="TextBox 26">
            <a:extLst>
              <a:ext uri="{FF2B5EF4-FFF2-40B4-BE49-F238E27FC236}">
                <a16:creationId xmlns:a16="http://schemas.microsoft.com/office/drawing/2014/main" id="{359E1FEA-275F-60CE-9BEE-A4D3555DE040}"/>
              </a:ext>
            </a:extLst>
          </p:cNvPr>
          <p:cNvSpPr txBox="1"/>
          <p:nvPr/>
        </p:nvSpPr>
        <p:spPr>
          <a:xfrm>
            <a:off x="1470052" y="757978"/>
            <a:ext cx="2884234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sz="2000" dirty="0"/>
              <a:t>Microservice </a:t>
            </a:r>
            <a:r>
              <a:rPr lang="en-GB" sz="2000" dirty="0" err="1"/>
              <a:t>Emprunts</a:t>
            </a:r>
            <a:endParaRPr lang="fr-FR" sz="20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6FCA09B0-46B6-C7FE-D303-E2B36B0FF6F6}"/>
              </a:ext>
            </a:extLst>
          </p:cNvPr>
          <p:cNvSpPr/>
          <p:nvPr/>
        </p:nvSpPr>
        <p:spPr>
          <a:xfrm>
            <a:off x="119739" y="1500000"/>
            <a:ext cx="2109655" cy="423894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dirty="0"/>
              <a:t>Le microservice </a:t>
            </a:r>
            <a:r>
              <a:rPr lang="en-GB" sz="1050" dirty="0" err="1"/>
              <a:t>Emprunts</a:t>
            </a:r>
            <a:r>
              <a:rPr lang="en-GB" sz="1050" dirty="0"/>
              <a:t> est chargé de la gestion des </a:t>
            </a:r>
            <a:r>
              <a:rPr lang="en-GB" sz="1050" dirty="0" err="1"/>
              <a:t>prêts</a:t>
            </a:r>
            <a:r>
              <a:rPr lang="en-GB" sz="1050" dirty="0"/>
              <a:t>.</a:t>
            </a:r>
          </a:p>
          <a:p>
            <a:pPr fontAlgn="t">
              <a:lnSpc>
                <a:spcPts val="1500"/>
              </a:lnSpc>
              <a:buNone/>
            </a:pPr>
            <a:endParaRPr lang="en-GB" sz="1050" dirty="0"/>
          </a:p>
          <a:p>
            <a:pPr fontAlgn="t">
              <a:lnSpc>
                <a:spcPts val="1500"/>
              </a:lnSpc>
              <a:buNone/>
            </a:pPr>
            <a:endParaRPr lang="en-GB" sz="1050" b="1" dirty="0"/>
          </a:p>
          <a:p>
            <a:pPr fontAlgn="t">
              <a:lnSpc>
                <a:spcPts val="1500"/>
              </a:lnSpc>
              <a:buNone/>
            </a:pPr>
            <a:r>
              <a:rPr lang="en-GB" sz="1050" b="1" u="sng" dirty="0"/>
              <a:t>Endpoints </a:t>
            </a:r>
            <a:r>
              <a:rPr lang="en-GB" sz="1050" b="1" u="sng" dirty="0" err="1"/>
              <a:t>principaux</a:t>
            </a:r>
            <a:endParaRPr lang="en-GB" sz="1050" b="1" u="sng" dirty="0"/>
          </a:p>
          <a:p>
            <a:r>
              <a:rPr lang="en-GB" sz="1100" b="1" dirty="0"/>
              <a:t>GET     /users</a:t>
            </a:r>
          </a:p>
          <a:p>
            <a:r>
              <a:rPr lang="en-GB" sz="1100" b="1" dirty="0"/>
              <a:t>POST    /borrow</a:t>
            </a:r>
          </a:p>
          <a:p>
            <a:r>
              <a:rPr lang="en-GB" sz="1100" b="1" dirty="0"/>
              <a:t>POST    /return/{</a:t>
            </a:r>
            <a:r>
              <a:rPr lang="en-GB" sz="1100" b="1" dirty="0" err="1"/>
              <a:t>borrow_id</a:t>
            </a:r>
            <a:r>
              <a:rPr lang="en-GB" sz="1100" b="1" dirty="0"/>
              <a:t>}</a:t>
            </a:r>
          </a:p>
          <a:p>
            <a:r>
              <a:rPr lang="en-GB" sz="1100" b="1" dirty="0"/>
              <a:t>GET     /history</a:t>
            </a:r>
          </a:p>
          <a:p>
            <a:r>
              <a:rPr lang="en-GB" sz="1100" b="1" dirty="0"/>
              <a:t>GET     /history/{</a:t>
            </a:r>
            <a:r>
              <a:rPr lang="en-GB" sz="1100" b="1" dirty="0" err="1"/>
              <a:t>borrow_id</a:t>
            </a:r>
            <a:r>
              <a:rPr lang="en-GB" sz="1100" b="1" dirty="0"/>
              <a:t>}</a:t>
            </a:r>
          </a:p>
          <a:p>
            <a:r>
              <a:rPr lang="en-GB" sz="1100" b="1" dirty="0"/>
              <a:t>GET     /late-books</a:t>
            </a:r>
          </a:p>
          <a:p>
            <a:r>
              <a:rPr lang="en-GB" sz="1100" b="1" dirty="0"/>
              <a:t>DELETE  /borrow/{</a:t>
            </a:r>
            <a:r>
              <a:rPr lang="en-GB" sz="1100" b="1" dirty="0" err="1"/>
              <a:t>borrow_id</a:t>
            </a:r>
            <a:r>
              <a:rPr lang="en-GB" sz="1100" b="1" dirty="0"/>
              <a:t>}</a:t>
            </a:r>
          </a:p>
          <a:p>
            <a:endParaRPr lang="en-GB" sz="1200" b="1" dirty="0"/>
          </a:p>
          <a:p>
            <a:pPr fontAlgn="t">
              <a:lnSpc>
                <a:spcPts val="1500"/>
              </a:lnSpc>
              <a:buNone/>
            </a:pPr>
            <a:endParaRPr lang="en-GB" sz="1050" b="1" dirty="0"/>
          </a:p>
          <a:p>
            <a:pPr fontAlgn="t">
              <a:lnSpc>
                <a:spcPts val="1500"/>
              </a:lnSpc>
              <a:buNone/>
            </a:pPr>
            <a:r>
              <a:rPr lang="en-GB" sz="1050" b="1" u="sng" dirty="0" err="1"/>
              <a:t>Fonctionnalités</a:t>
            </a:r>
            <a:endParaRPr lang="en-GB" sz="1050" b="1" u="sng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Emprunter</a:t>
            </a:r>
            <a:r>
              <a:rPr lang="en-GB" sz="1050" dirty="0"/>
              <a:t> un livre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Retourner</a:t>
            </a:r>
            <a:r>
              <a:rPr lang="en-GB" sz="1050" dirty="0"/>
              <a:t> un livre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Consulter </a:t>
            </a:r>
            <a:r>
              <a:rPr lang="en-GB" sz="1050" dirty="0" err="1"/>
              <a:t>l'historique</a:t>
            </a:r>
            <a:endParaRPr lang="en-GB" sz="1050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Détecter</a:t>
            </a:r>
            <a:r>
              <a:rPr lang="en-GB" sz="1050" dirty="0"/>
              <a:t> les retards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050" dirty="0"/>
          </a:p>
          <a:p>
            <a:pPr fontAlgn="t">
              <a:lnSpc>
                <a:spcPts val="1500"/>
              </a:lnSpc>
              <a:buNone/>
            </a:pPr>
            <a:endParaRPr lang="en-GB" sz="1050" b="1" u="sng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050" dirty="0"/>
          </a:p>
          <a:p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60A6D-87E0-1977-3842-45CE573F0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354" y="1648424"/>
            <a:ext cx="6853646" cy="356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811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7">
            <a:extLst>
              <a:ext uri="{FF2B5EF4-FFF2-40B4-BE49-F238E27FC236}">
                <a16:creationId xmlns:a16="http://schemas.microsoft.com/office/drawing/2014/main" id="{F59EC4BF-839F-C41F-5FFA-B7DDFE0D1042}"/>
              </a:ext>
            </a:extLst>
          </p:cNvPr>
          <p:cNvSpPr/>
          <p:nvPr/>
        </p:nvSpPr>
        <p:spPr>
          <a:xfrm>
            <a:off x="206822" y="1108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A0B119BB-197D-D978-6542-2DBC0F1FF47A}"/>
              </a:ext>
            </a:extLst>
          </p:cNvPr>
          <p:cNvSpPr txBox="1"/>
          <p:nvPr/>
        </p:nvSpPr>
        <p:spPr>
          <a:xfrm>
            <a:off x="206822" y="1108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6</a:t>
            </a:r>
          </a:p>
        </p:txBody>
      </p:sp>
      <p:sp>
        <p:nvSpPr>
          <p:cNvPr id="8" name="TextBox 29">
            <a:extLst>
              <a:ext uri="{FF2B5EF4-FFF2-40B4-BE49-F238E27FC236}">
                <a16:creationId xmlns:a16="http://schemas.microsoft.com/office/drawing/2014/main" id="{FEF73F1B-E509-FC3F-E88F-B965D7BA7719}"/>
              </a:ext>
            </a:extLst>
          </p:cNvPr>
          <p:cNvSpPr txBox="1"/>
          <p:nvPr/>
        </p:nvSpPr>
        <p:spPr>
          <a:xfrm>
            <a:off x="821022" y="110881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Base de données</a:t>
            </a:r>
            <a:endParaRPr lang="fr-FR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C9F9217A-EDC6-50C2-636A-7069949F8E2D}"/>
              </a:ext>
            </a:extLst>
          </p:cNvPr>
          <p:cNvSpPr/>
          <p:nvPr/>
        </p:nvSpPr>
        <p:spPr>
          <a:xfrm>
            <a:off x="3566373" y="592834"/>
            <a:ext cx="2863601" cy="1342164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400" u="sng" dirty="0" err="1"/>
              <a:t>Avantages</a:t>
            </a:r>
            <a:endParaRPr lang="en-GB" sz="1400" u="sng" dirty="0"/>
          </a:p>
          <a:p>
            <a:pPr fontAlgn="t">
              <a:lnSpc>
                <a:spcPts val="1500"/>
              </a:lnSpc>
              <a:buNone/>
            </a:pPr>
            <a:endParaRPr lang="en-GB" sz="1400" u="sng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 err="1"/>
              <a:t>Fiabilité</a:t>
            </a:r>
            <a:endParaRPr lang="en-GB" sz="1400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/>
              <a:t>Performances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 err="1"/>
              <a:t>Intégrité</a:t>
            </a:r>
            <a:r>
              <a:rPr lang="en-GB" sz="1400" dirty="0"/>
              <a:t> des données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 err="1"/>
              <a:t>Compatibilité</a:t>
            </a:r>
            <a:r>
              <a:rPr lang="en-GB" sz="1400" dirty="0"/>
              <a:t> avec </a:t>
            </a:r>
            <a:r>
              <a:rPr lang="en-GB" sz="1400" dirty="0" err="1"/>
              <a:t>SQLAlchemy</a:t>
            </a:r>
            <a:endParaRPr lang="en-GB" sz="1400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endParaRPr lang="fr-FR" sz="1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54A9AC-5C32-3579-BE47-EECDCEBB5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6950"/>
            <a:ext cx="9144000" cy="4861049"/>
          </a:xfrm>
          <a:prstGeom prst="rect">
            <a:avLst/>
          </a:prstGeom>
        </p:spPr>
      </p:pic>
      <p:sp>
        <p:nvSpPr>
          <p:cNvPr id="23" name="Shape 13">
            <a:extLst>
              <a:ext uri="{FF2B5EF4-FFF2-40B4-BE49-F238E27FC236}">
                <a16:creationId xmlns:a16="http://schemas.microsoft.com/office/drawing/2014/main" id="{671B0B16-D7C3-CD94-0705-15D1B3F06A61}"/>
              </a:ext>
            </a:extLst>
          </p:cNvPr>
          <p:cNvSpPr/>
          <p:nvPr/>
        </p:nvSpPr>
        <p:spPr>
          <a:xfrm>
            <a:off x="150216" y="654787"/>
            <a:ext cx="2618017" cy="121825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400" dirty="0"/>
              <a:t>Le </a:t>
            </a:r>
            <a:r>
              <a:rPr lang="en-GB" sz="1400" dirty="0" err="1"/>
              <a:t>système</a:t>
            </a:r>
            <a:r>
              <a:rPr lang="en-GB" sz="1400" dirty="0"/>
              <a:t> utilise PostgreSQL </a:t>
            </a:r>
            <a:r>
              <a:rPr lang="en-GB" sz="1400" dirty="0" err="1"/>
              <a:t>comme</a:t>
            </a:r>
            <a:r>
              <a:rPr lang="en-GB" sz="1400" dirty="0"/>
              <a:t> SGBD </a:t>
            </a:r>
            <a:r>
              <a:rPr lang="en-GB" sz="1400" dirty="0" err="1"/>
              <a:t>relationnel</a:t>
            </a:r>
            <a:r>
              <a:rPr lang="en-GB" sz="1400" dirty="0"/>
              <a:t>.</a:t>
            </a:r>
          </a:p>
          <a:p>
            <a:pPr fontAlgn="t">
              <a:lnSpc>
                <a:spcPts val="1500"/>
              </a:lnSpc>
              <a:buNone/>
            </a:pPr>
            <a:endParaRPr lang="en-GB" sz="1400" dirty="0"/>
          </a:p>
          <a:p>
            <a:pPr fontAlgn="t">
              <a:lnSpc>
                <a:spcPts val="1500"/>
              </a:lnSpc>
              <a:buNone/>
            </a:pPr>
            <a:r>
              <a:rPr lang="en-GB" sz="1400" dirty="0"/>
              <a:t>Les données </a:t>
            </a:r>
            <a:r>
              <a:rPr lang="en-GB" sz="1400" dirty="0" err="1"/>
              <a:t>sont</a:t>
            </a:r>
            <a:r>
              <a:rPr lang="en-GB" sz="1400" dirty="0"/>
              <a:t> </a:t>
            </a:r>
            <a:r>
              <a:rPr lang="en-GB" sz="1400" dirty="0" err="1"/>
              <a:t>stockées</a:t>
            </a:r>
            <a:r>
              <a:rPr lang="en-GB" sz="1400" dirty="0"/>
              <a:t> de manière </a:t>
            </a:r>
            <a:r>
              <a:rPr lang="en-GB" sz="1400" dirty="0" err="1"/>
              <a:t>persistante</a:t>
            </a:r>
            <a:r>
              <a:rPr lang="en-GB" sz="1400" dirty="0"/>
              <a:t> à travers un volume Docker.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endParaRPr lang="fr-FR" sz="140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1CA7EC55-908B-1EAE-7AF8-CF2B78A2085F}"/>
              </a:ext>
            </a:extLst>
          </p:cNvPr>
          <p:cNvSpPr/>
          <p:nvPr/>
        </p:nvSpPr>
        <p:spPr>
          <a:xfrm>
            <a:off x="7228114" y="749107"/>
            <a:ext cx="1647012" cy="1185891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r>
              <a:rPr lang="en-GB" sz="1400" u="sng" dirty="0"/>
              <a:t>Tables </a:t>
            </a:r>
            <a:r>
              <a:rPr lang="en-GB" sz="1400" u="sng" dirty="0" err="1"/>
              <a:t>principales</a:t>
            </a:r>
            <a:endParaRPr lang="en-GB" sz="1400" u="sng" dirty="0"/>
          </a:p>
          <a:p>
            <a:pPr fontAlgn="t">
              <a:lnSpc>
                <a:spcPts val="1500"/>
              </a:lnSpc>
              <a:buNone/>
            </a:pPr>
            <a:endParaRPr lang="en-GB" sz="1400" dirty="0"/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Books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Users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/>
              <a:t>Borrows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400" dirty="0"/>
          </a:p>
          <a:p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4157427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2B2D-3F70-3E96-B014-C3E06B71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7">
            <a:extLst>
              <a:ext uri="{FF2B5EF4-FFF2-40B4-BE49-F238E27FC236}">
                <a16:creationId xmlns:a16="http://schemas.microsoft.com/office/drawing/2014/main" id="{49F4716A-0284-C71D-19AD-A395E58E47E9}"/>
              </a:ext>
            </a:extLst>
          </p:cNvPr>
          <p:cNvSpPr/>
          <p:nvPr/>
        </p:nvSpPr>
        <p:spPr>
          <a:xfrm>
            <a:off x="206822" y="1108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8DDCE397-0C39-C1F5-0E04-7F241F054B29}"/>
              </a:ext>
            </a:extLst>
          </p:cNvPr>
          <p:cNvSpPr txBox="1"/>
          <p:nvPr/>
        </p:nvSpPr>
        <p:spPr>
          <a:xfrm>
            <a:off x="206822" y="1108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6</a:t>
            </a:r>
          </a:p>
        </p:txBody>
      </p:sp>
      <p:sp>
        <p:nvSpPr>
          <p:cNvPr id="8" name="TextBox 29">
            <a:extLst>
              <a:ext uri="{FF2B5EF4-FFF2-40B4-BE49-F238E27FC236}">
                <a16:creationId xmlns:a16="http://schemas.microsoft.com/office/drawing/2014/main" id="{1F79B270-1167-64D6-E3AC-CE3A3B0B29AB}"/>
              </a:ext>
            </a:extLst>
          </p:cNvPr>
          <p:cNvSpPr txBox="1"/>
          <p:nvPr/>
        </p:nvSpPr>
        <p:spPr>
          <a:xfrm>
            <a:off x="821022" y="110881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Base de données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450CA-6FC2-40DC-B116-0A7F5B546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395" y="962291"/>
            <a:ext cx="4835402" cy="1894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5558BF-BC2B-2BF0-D682-01842AB2B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396" y="3026538"/>
            <a:ext cx="4835401" cy="16608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7E899B-651F-1D6F-704B-AABE6A4D6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398" y="4959755"/>
            <a:ext cx="4859396" cy="1871908"/>
          </a:xfrm>
          <a:prstGeom prst="rect">
            <a:avLst/>
          </a:prstGeom>
        </p:spPr>
      </p:pic>
      <p:sp>
        <p:nvSpPr>
          <p:cNvPr id="13" name="TextBox 29">
            <a:extLst>
              <a:ext uri="{FF2B5EF4-FFF2-40B4-BE49-F238E27FC236}">
                <a16:creationId xmlns:a16="http://schemas.microsoft.com/office/drawing/2014/main" id="{926B7121-A972-A115-F060-63FF7681C2C4}"/>
              </a:ext>
            </a:extLst>
          </p:cNvPr>
          <p:cNvSpPr txBox="1"/>
          <p:nvPr/>
        </p:nvSpPr>
        <p:spPr>
          <a:xfrm>
            <a:off x="2822682" y="888817"/>
            <a:ext cx="127359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sz="2000" dirty="0"/>
              <a:t>books</a:t>
            </a:r>
            <a:endParaRPr lang="fr-FR" sz="2000" dirty="0"/>
          </a:p>
        </p:txBody>
      </p:sp>
      <p:sp>
        <p:nvSpPr>
          <p:cNvPr id="15" name="TextBox 29">
            <a:extLst>
              <a:ext uri="{FF2B5EF4-FFF2-40B4-BE49-F238E27FC236}">
                <a16:creationId xmlns:a16="http://schemas.microsoft.com/office/drawing/2014/main" id="{E9DD8325-CA77-4CC3-6DA3-3E90D9BA3751}"/>
              </a:ext>
            </a:extLst>
          </p:cNvPr>
          <p:cNvSpPr txBox="1"/>
          <p:nvPr/>
        </p:nvSpPr>
        <p:spPr>
          <a:xfrm>
            <a:off x="2923935" y="2946799"/>
            <a:ext cx="127359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20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users</a:t>
            </a:r>
            <a:endParaRPr lang="fr-FR" dirty="0"/>
          </a:p>
        </p:txBody>
      </p:sp>
      <p:sp>
        <p:nvSpPr>
          <p:cNvPr id="17" name="TextBox 29">
            <a:extLst>
              <a:ext uri="{FF2B5EF4-FFF2-40B4-BE49-F238E27FC236}">
                <a16:creationId xmlns:a16="http://schemas.microsoft.com/office/drawing/2014/main" id="{034A8D7E-0246-8A82-837D-C88E56A04AA6}"/>
              </a:ext>
            </a:extLst>
          </p:cNvPr>
          <p:cNvSpPr txBox="1"/>
          <p:nvPr/>
        </p:nvSpPr>
        <p:spPr>
          <a:xfrm>
            <a:off x="2636520" y="4879931"/>
            <a:ext cx="1645919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20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borrows</a:t>
            </a:r>
            <a:endParaRPr lang="fr-F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7A7E00-9B47-68F1-8126-F3562B5B2559}"/>
              </a:ext>
            </a:extLst>
          </p:cNvPr>
          <p:cNvSpPr txBox="1"/>
          <p:nvPr/>
        </p:nvSpPr>
        <p:spPr>
          <a:xfrm>
            <a:off x="1911532" y="1278888"/>
            <a:ext cx="2486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effectLst/>
              </a:rPr>
              <a:t>Catalogue des </a:t>
            </a:r>
            <a:r>
              <a:rPr lang="en-GB" sz="1400" dirty="0" err="1">
                <a:effectLst/>
              </a:rPr>
              <a:t>ouvrages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800646-525E-B1F2-4D1C-D3E7DBAA1BB6}"/>
              </a:ext>
            </a:extLst>
          </p:cNvPr>
          <p:cNvSpPr txBox="1"/>
          <p:nvPr/>
        </p:nvSpPr>
        <p:spPr>
          <a:xfrm>
            <a:off x="1911531" y="3317112"/>
            <a:ext cx="2486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400">
                <a:effectLst/>
              </a:defRPr>
            </a:lvl1pPr>
          </a:lstStyle>
          <a:p>
            <a:r>
              <a:rPr lang="en-GB" dirty="0"/>
              <a:t>Gestion des </a:t>
            </a:r>
            <a:r>
              <a:rPr lang="en-GB" dirty="0" err="1"/>
              <a:t>utilisateurs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CBC57F-45B4-EADA-9FEF-7E9B14581786}"/>
              </a:ext>
            </a:extLst>
          </p:cNvPr>
          <p:cNvSpPr txBox="1"/>
          <p:nvPr/>
        </p:nvSpPr>
        <p:spPr>
          <a:xfrm>
            <a:off x="1796142" y="5145445"/>
            <a:ext cx="2486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400">
                <a:effectLst/>
              </a:defRPr>
            </a:lvl1pPr>
          </a:lstStyle>
          <a:p>
            <a:r>
              <a:rPr lang="en-GB" dirty="0" err="1"/>
              <a:t>Historique</a:t>
            </a:r>
            <a:r>
              <a:rPr lang="en-GB" dirty="0"/>
              <a:t> des </a:t>
            </a:r>
            <a:r>
              <a:rPr lang="en-GB" dirty="0" err="1"/>
              <a:t>emprunts</a:t>
            </a:r>
            <a:endParaRPr lang="en-GB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DF913589-A7FA-8ACB-B192-B5935325C319}"/>
              </a:ext>
            </a:extLst>
          </p:cNvPr>
          <p:cNvSpPr/>
          <p:nvPr/>
        </p:nvSpPr>
        <p:spPr>
          <a:xfrm>
            <a:off x="35672" y="5757591"/>
            <a:ext cx="3520937" cy="989528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r>
              <a:rPr lang="en-GB" sz="1200" dirty="0"/>
              <a:t>PostgreSQL est </a:t>
            </a:r>
            <a:r>
              <a:rPr lang="en-GB" sz="1200" dirty="0" err="1"/>
              <a:t>utilisé</a:t>
            </a:r>
            <a:r>
              <a:rPr lang="en-GB" sz="1200" dirty="0"/>
              <a:t> </a:t>
            </a:r>
            <a:r>
              <a:rPr lang="en-GB" sz="1200" dirty="0" err="1"/>
              <a:t>comme</a:t>
            </a:r>
            <a:r>
              <a:rPr lang="en-GB" sz="1200" dirty="0"/>
              <a:t> </a:t>
            </a:r>
            <a:r>
              <a:rPr lang="en-GB" sz="1200" dirty="0" err="1"/>
              <a:t>système</a:t>
            </a:r>
            <a:r>
              <a:rPr lang="en-GB" sz="1200" dirty="0"/>
              <a:t> de gestion de base de données. Les tables </a:t>
            </a:r>
            <a:r>
              <a:rPr lang="en-GB" sz="1200" b="1" dirty="0"/>
              <a:t>books</a:t>
            </a:r>
            <a:r>
              <a:rPr lang="en-GB" sz="1200" dirty="0"/>
              <a:t>, </a:t>
            </a:r>
            <a:r>
              <a:rPr lang="en-GB" sz="1200" b="1" dirty="0"/>
              <a:t>users</a:t>
            </a:r>
            <a:r>
              <a:rPr lang="en-GB" sz="1200" dirty="0"/>
              <a:t> et </a:t>
            </a:r>
            <a:r>
              <a:rPr lang="en-GB" sz="1200" b="1" dirty="0"/>
              <a:t>borrows</a:t>
            </a:r>
            <a:r>
              <a:rPr lang="en-GB" sz="1200" dirty="0"/>
              <a:t> </a:t>
            </a:r>
            <a:r>
              <a:rPr lang="en-GB" sz="1200" dirty="0" err="1"/>
              <a:t>stockent</a:t>
            </a:r>
            <a:r>
              <a:rPr lang="en-GB" sz="1200" dirty="0"/>
              <a:t> </a:t>
            </a:r>
            <a:r>
              <a:rPr lang="en-GB" sz="1200" dirty="0" err="1"/>
              <a:t>respectivement</a:t>
            </a:r>
            <a:r>
              <a:rPr lang="en-GB" sz="1200" dirty="0"/>
              <a:t> les livres, les </a:t>
            </a:r>
            <a:r>
              <a:rPr lang="en-GB" sz="1200" dirty="0" err="1"/>
              <a:t>utilisateurs</a:t>
            </a:r>
            <a:r>
              <a:rPr lang="en-GB" sz="1200" dirty="0"/>
              <a:t> et </a:t>
            </a:r>
            <a:r>
              <a:rPr lang="en-GB" sz="1200" dirty="0" err="1"/>
              <a:t>l’historique</a:t>
            </a:r>
            <a:r>
              <a:rPr lang="en-GB" sz="1200" dirty="0"/>
              <a:t> des </a:t>
            </a:r>
            <a:r>
              <a:rPr lang="en-GB" sz="1200" dirty="0" err="1"/>
              <a:t>emprunts</a:t>
            </a:r>
            <a:r>
              <a:rPr lang="en-GB" sz="1200" dirty="0"/>
              <a:t> de la bibliothèque. </a:t>
            </a:r>
          </a:p>
        </p:txBody>
      </p:sp>
    </p:spTree>
    <p:extLst>
      <p:ext uri="{BB962C8B-B14F-4D97-AF65-F5344CB8AC3E}">
        <p14:creationId xmlns:p14="http://schemas.microsoft.com/office/powerpoint/2010/main" val="3890973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6195-255A-3570-B9F5-02688141B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7">
            <a:extLst>
              <a:ext uri="{FF2B5EF4-FFF2-40B4-BE49-F238E27FC236}">
                <a16:creationId xmlns:a16="http://schemas.microsoft.com/office/drawing/2014/main" id="{A7655A7D-0DAE-B228-EFA8-3F30C2441A10}"/>
              </a:ext>
            </a:extLst>
          </p:cNvPr>
          <p:cNvSpPr/>
          <p:nvPr/>
        </p:nvSpPr>
        <p:spPr>
          <a:xfrm>
            <a:off x="206822" y="1108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16E57115-96B2-A626-645D-29F3DB14DAF4}"/>
              </a:ext>
            </a:extLst>
          </p:cNvPr>
          <p:cNvSpPr txBox="1"/>
          <p:nvPr/>
        </p:nvSpPr>
        <p:spPr>
          <a:xfrm>
            <a:off x="206822" y="1108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7</a:t>
            </a:r>
          </a:p>
        </p:txBody>
      </p:sp>
      <p:sp>
        <p:nvSpPr>
          <p:cNvPr id="8" name="TextBox 29">
            <a:extLst>
              <a:ext uri="{FF2B5EF4-FFF2-40B4-BE49-F238E27FC236}">
                <a16:creationId xmlns:a16="http://schemas.microsoft.com/office/drawing/2014/main" id="{1D7D69C9-A09C-7E18-BB0B-6543759BDB7C}"/>
              </a:ext>
            </a:extLst>
          </p:cNvPr>
          <p:cNvSpPr txBox="1"/>
          <p:nvPr/>
        </p:nvSpPr>
        <p:spPr>
          <a:xfrm>
            <a:off x="905692" y="252548"/>
            <a:ext cx="5477692" cy="5834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Interface </a:t>
            </a:r>
            <a:r>
              <a:rPr lang="en-GB" dirty="0" err="1"/>
              <a:t>utilisateur</a:t>
            </a:r>
            <a:r>
              <a:rPr lang="en-GB" dirty="0"/>
              <a:t> (Frontend)</a:t>
            </a:r>
            <a:endParaRPr lang="fr-FR" dirty="0">
              <a:solidFill>
                <a:srgbClr val="1F2A30"/>
              </a:solidFill>
            </a:endParaRPr>
          </a:p>
          <a:p>
            <a:endParaRPr lang="fr-FR" dirty="0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EC914784-C355-159B-D000-9124CEF319A9}"/>
              </a:ext>
            </a:extLst>
          </p:cNvPr>
          <p:cNvSpPr/>
          <p:nvPr/>
        </p:nvSpPr>
        <p:spPr>
          <a:xfrm>
            <a:off x="6511828" y="597721"/>
            <a:ext cx="2205452" cy="1225019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r>
              <a:rPr lang="en-GB" sz="1200" dirty="0"/>
              <a:t>Tableau de bord </a:t>
            </a:r>
          </a:p>
          <a:p>
            <a:r>
              <a:rPr lang="en-GB" sz="1200" dirty="0" err="1"/>
              <a:t>Affichage</a:t>
            </a:r>
            <a:r>
              <a:rPr lang="en-GB" sz="1200" dirty="0"/>
              <a:t> </a:t>
            </a:r>
            <a:r>
              <a:rPr lang="en-GB" sz="1200" dirty="0" err="1"/>
              <a:t>en</a:t>
            </a:r>
            <a:r>
              <a:rPr lang="en-GB" sz="1200" dirty="0"/>
              <a:t> temps </a:t>
            </a:r>
            <a:r>
              <a:rPr lang="en-GB" sz="1200" dirty="0" err="1"/>
              <a:t>réel</a:t>
            </a:r>
            <a:r>
              <a:rPr lang="en-GB" sz="1200" dirty="0"/>
              <a:t>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Nombre de livres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 Nombre </a:t>
            </a:r>
            <a:r>
              <a:rPr lang="en-GB" sz="1200" dirty="0" err="1"/>
              <a:t>d'utilisateurs</a:t>
            </a:r>
            <a:r>
              <a:rPr lang="en-GB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Nombre </a:t>
            </a:r>
            <a:r>
              <a:rPr lang="en-GB" sz="1200" dirty="0" err="1"/>
              <a:t>d'emprunts</a:t>
            </a:r>
            <a:r>
              <a:rPr lang="en-GB" sz="1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Nombre de retards </a:t>
            </a:r>
            <a:endParaRPr lang="fr-FR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C0B32F-0563-8B01-9E95-40294F4B0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2" y="1897547"/>
            <a:ext cx="8510458" cy="4494544"/>
          </a:xfrm>
          <a:prstGeom prst="rect">
            <a:avLst/>
          </a:prstGeom>
        </p:spPr>
      </p:pic>
      <p:sp>
        <p:nvSpPr>
          <p:cNvPr id="12" name="Shape 13">
            <a:extLst>
              <a:ext uri="{FF2B5EF4-FFF2-40B4-BE49-F238E27FC236}">
                <a16:creationId xmlns:a16="http://schemas.microsoft.com/office/drawing/2014/main" id="{9D7DA70B-344C-2781-6376-33118939D14B}"/>
              </a:ext>
            </a:extLst>
          </p:cNvPr>
          <p:cNvSpPr/>
          <p:nvPr/>
        </p:nvSpPr>
        <p:spPr>
          <a:xfrm>
            <a:off x="416822" y="606430"/>
            <a:ext cx="2104726" cy="1225019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200" dirty="0"/>
              <a:t>Le frontend a </a:t>
            </a:r>
            <a:r>
              <a:rPr lang="en-GB" sz="1200" dirty="0" err="1"/>
              <a:t>été</a:t>
            </a:r>
            <a:r>
              <a:rPr lang="en-GB" sz="1200" dirty="0"/>
              <a:t> </a:t>
            </a:r>
            <a:r>
              <a:rPr lang="en-GB" sz="1200" dirty="0" err="1"/>
              <a:t>développé</a:t>
            </a:r>
            <a:r>
              <a:rPr lang="en-GB" sz="1200" dirty="0"/>
              <a:t> avec :</a:t>
            </a:r>
          </a:p>
          <a:p>
            <a:pPr fontAlgn="t">
              <a:lnSpc>
                <a:spcPts val="1500"/>
              </a:lnSpc>
              <a:buNone/>
            </a:pPr>
            <a:endParaRPr lang="en-GB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JavaScript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CC63D113-EE1E-61D2-E20B-457A8D49ED12}"/>
              </a:ext>
            </a:extLst>
          </p:cNvPr>
          <p:cNvSpPr/>
          <p:nvPr/>
        </p:nvSpPr>
        <p:spPr>
          <a:xfrm>
            <a:off x="3461626" y="606430"/>
            <a:ext cx="2205452" cy="1225019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200" dirty="0" err="1"/>
              <a:t>L'interface</a:t>
            </a:r>
            <a:r>
              <a:rPr lang="en-GB" sz="1200" dirty="0"/>
              <a:t> </a:t>
            </a:r>
            <a:r>
              <a:rPr lang="en-GB" sz="1200" dirty="0" err="1"/>
              <a:t>permet</a:t>
            </a:r>
            <a:r>
              <a:rPr lang="en-GB" sz="1200" dirty="0"/>
              <a:t> de consulter </a:t>
            </a:r>
            <a:r>
              <a:rPr lang="en-GB" sz="1200" dirty="0" err="1"/>
              <a:t>facilement</a:t>
            </a:r>
            <a:r>
              <a:rPr lang="en-GB" sz="1200" dirty="0"/>
              <a:t> les </a:t>
            </a:r>
            <a:r>
              <a:rPr lang="en-GB" sz="1200" dirty="0" err="1"/>
              <a:t>informations</a:t>
            </a:r>
            <a:r>
              <a:rPr lang="en-GB" sz="1200" dirty="0"/>
              <a:t> de la bibliothèque.</a:t>
            </a:r>
          </a:p>
        </p:txBody>
      </p:sp>
    </p:spTree>
    <p:extLst>
      <p:ext uri="{BB962C8B-B14F-4D97-AF65-F5344CB8AC3E}">
        <p14:creationId xmlns:p14="http://schemas.microsoft.com/office/powerpoint/2010/main" val="3650604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5CFD-777C-7572-9C7B-F2EDEB3BD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7">
            <a:extLst>
              <a:ext uri="{FF2B5EF4-FFF2-40B4-BE49-F238E27FC236}">
                <a16:creationId xmlns:a16="http://schemas.microsoft.com/office/drawing/2014/main" id="{8B2BD178-E16D-73E1-88FB-8A6F0322DE98}"/>
              </a:ext>
            </a:extLst>
          </p:cNvPr>
          <p:cNvSpPr/>
          <p:nvPr/>
        </p:nvSpPr>
        <p:spPr>
          <a:xfrm>
            <a:off x="206822" y="1108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1CA3F197-7362-74DC-F547-F5E99A9FCC91}"/>
              </a:ext>
            </a:extLst>
          </p:cNvPr>
          <p:cNvSpPr txBox="1"/>
          <p:nvPr/>
        </p:nvSpPr>
        <p:spPr>
          <a:xfrm>
            <a:off x="206822" y="1108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7</a:t>
            </a: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C33A0CE-892A-FD9F-8AB2-1EB64F5A85A0}"/>
              </a:ext>
            </a:extLst>
          </p:cNvPr>
          <p:cNvSpPr/>
          <p:nvPr/>
        </p:nvSpPr>
        <p:spPr>
          <a:xfrm>
            <a:off x="117566" y="652793"/>
            <a:ext cx="1394561" cy="891184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dirty="0" err="1"/>
              <a:t>Fonctionnalités</a:t>
            </a:r>
            <a:r>
              <a:rPr lang="en-GB" sz="1050" dirty="0"/>
              <a:t> :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Liste</a:t>
            </a:r>
            <a:r>
              <a:rPr lang="en-GB" sz="1050" dirty="0"/>
              <a:t> des livres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/>
              <a:t>Disponibilité</a:t>
            </a:r>
            <a:endParaRPr lang="en-GB" sz="1050" dirty="0"/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/>
              <a:t>Recherche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47F9D6B-2125-4CF2-4970-11BC80D23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9" y="1543977"/>
            <a:ext cx="8956765" cy="47523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925B0D2-593A-6BCB-4389-57D7F17C5228}"/>
              </a:ext>
            </a:extLst>
          </p:cNvPr>
          <p:cNvSpPr txBox="1"/>
          <p:nvPr/>
        </p:nvSpPr>
        <p:spPr>
          <a:xfrm>
            <a:off x="714103" y="110881"/>
            <a:ext cx="5590889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08464C"/>
                </a:solidFill>
                <a:latin typeface="Calibri"/>
              </a:rPr>
              <a:t>Interface </a:t>
            </a:r>
            <a:r>
              <a:rPr lang="en-GB" sz="2000" b="1" dirty="0" err="1">
                <a:solidFill>
                  <a:srgbClr val="08464C"/>
                </a:solidFill>
                <a:latin typeface="Calibri"/>
              </a:rPr>
              <a:t>utilisateur</a:t>
            </a:r>
            <a:r>
              <a:rPr lang="en-GB" sz="2000" b="1" dirty="0">
                <a:solidFill>
                  <a:srgbClr val="08464C"/>
                </a:solidFill>
                <a:latin typeface="Calibri"/>
              </a:rPr>
              <a:t> - Gestion des livres  (Frontend)</a:t>
            </a:r>
            <a:endParaRPr lang="fr-FR" sz="2000" b="1" dirty="0">
              <a:solidFill>
                <a:srgbClr val="08464C"/>
              </a:solidFill>
              <a:latin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2685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28F74-2C96-0EA9-8AD7-A0BEFEF0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7">
            <a:extLst>
              <a:ext uri="{FF2B5EF4-FFF2-40B4-BE49-F238E27FC236}">
                <a16:creationId xmlns:a16="http://schemas.microsoft.com/office/drawing/2014/main" id="{AB809A75-5454-CBF6-98E1-8CEE035C6CCA}"/>
              </a:ext>
            </a:extLst>
          </p:cNvPr>
          <p:cNvSpPr/>
          <p:nvPr/>
        </p:nvSpPr>
        <p:spPr>
          <a:xfrm>
            <a:off x="206822" y="1108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3DB2839D-DA01-F2A7-5357-C9A36EC20DDC}"/>
              </a:ext>
            </a:extLst>
          </p:cNvPr>
          <p:cNvSpPr txBox="1"/>
          <p:nvPr/>
        </p:nvSpPr>
        <p:spPr>
          <a:xfrm>
            <a:off x="206822" y="1108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7</a:t>
            </a: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AE3F61A3-DA9C-7313-E108-0C0B50DBCF14}"/>
              </a:ext>
            </a:extLst>
          </p:cNvPr>
          <p:cNvSpPr/>
          <p:nvPr/>
        </p:nvSpPr>
        <p:spPr>
          <a:xfrm>
            <a:off x="206822" y="616336"/>
            <a:ext cx="1911531" cy="964284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dirty="0" err="1">
                <a:latin typeface="Calibri "/>
              </a:rPr>
              <a:t>Fonctionnalités</a:t>
            </a:r>
            <a:r>
              <a:rPr lang="en-GB" sz="1050" dirty="0">
                <a:latin typeface="Calibri "/>
              </a:rPr>
              <a:t> :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>
                <a:latin typeface="Calibri "/>
              </a:rPr>
              <a:t>Affichage</a:t>
            </a:r>
            <a:r>
              <a:rPr lang="en-GB" sz="1050" dirty="0">
                <a:latin typeface="Calibri "/>
              </a:rPr>
              <a:t> des </a:t>
            </a:r>
            <a:r>
              <a:rPr lang="en-GB" sz="1050" dirty="0" err="1">
                <a:latin typeface="Calibri "/>
              </a:rPr>
              <a:t>utilisateurs</a:t>
            </a:r>
            <a:endParaRPr lang="en-GB" sz="1050" dirty="0">
              <a:latin typeface="Calibri 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>
                <a:latin typeface="Calibri "/>
              </a:rPr>
              <a:t>Profil</a:t>
            </a:r>
            <a:r>
              <a:rPr lang="en-GB" sz="1050" dirty="0">
                <a:latin typeface="Calibri "/>
              </a:rPr>
              <a:t> </a:t>
            </a:r>
            <a:r>
              <a:rPr lang="en-GB" sz="1050" dirty="0" err="1">
                <a:latin typeface="Calibri "/>
              </a:rPr>
              <a:t>utilisateur</a:t>
            </a:r>
            <a:endParaRPr lang="en-GB" sz="1050" dirty="0">
              <a:latin typeface="Calibri 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Calibri "/>
              </a:rPr>
              <a:t>Type </a:t>
            </a:r>
            <a:r>
              <a:rPr lang="en-GB" sz="1050" dirty="0" err="1">
                <a:latin typeface="Calibri "/>
              </a:rPr>
              <a:t>utilisateur</a:t>
            </a:r>
            <a:endParaRPr lang="en-GB" sz="1050" dirty="0">
              <a:latin typeface="Calibri 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DBAF69-BAA0-FCB5-3C82-0A2B61023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1" y="1666076"/>
            <a:ext cx="8937178" cy="4759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8AD5DC-13C5-D426-A521-16CF61176A4A}"/>
              </a:ext>
            </a:extLst>
          </p:cNvPr>
          <p:cNvSpPr txBox="1"/>
          <p:nvPr/>
        </p:nvSpPr>
        <p:spPr>
          <a:xfrm>
            <a:off x="714103" y="110881"/>
            <a:ext cx="620708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08464C"/>
                </a:solidFill>
                <a:latin typeface="Calibri"/>
              </a:rPr>
              <a:t>Interface </a:t>
            </a:r>
            <a:r>
              <a:rPr lang="en-GB" sz="2000" b="1" dirty="0" err="1">
                <a:solidFill>
                  <a:srgbClr val="08464C"/>
                </a:solidFill>
                <a:latin typeface="Calibri"/>
              </a:rPr>
              <a:t>utilisateur</a:t>
            </a:r>
            <a:r>
              <a:rPr lang="en-GB" sz="2000" b="1" dirty="0">
                <a:solidFill>
                  <a:srgbClr val="08464C"/>
                </a:solidFill>
                <a:latin typeface="Calibri"/>
              </a:rPr>
              <a:t> - Gestion des </a:t>
            </a:r>
            <a:r>
              <a:rPr lang="en-GB" sz="2000" b="1" dirty="0" err="1">
                <a:solidFill>
                  <a:srgbClr val="08464C"/>
                </a:solidFill>
                <a:latin typeface="Calibri"/>
              </a:rPr>
              <a:t>utilisateurs</a:t>
            </a:r>
            <a:r>
              <a:rPr lang="en-GB" sz="2000" b="1" dirty="0">
                <a:solidFill>
                  <a:srgbClr val="08464C"/>
                </a:solidFill>
                <a:latin typeface="Calibri"/>
              </a:rPr>
              <a:t>  (Frontend)</a:t>
            </a:r>
            <a:endParaRPr lang="fr-FR" sz="2000" b="1" dirty="0">
              <a:solidFill>
                <a:srgbClr val="08464C"/>
              </a:solidFill>
              <a:latin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88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686D-6682-7C40-E48B-3A11370F5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7">
            <a:extLst>
              <a:ext uri="{FF2B5EF4-FFF2-40B4-BE49-F238E27FC236}">
                <a16:creationId xmlns:a16="http://schemas.microsoft.com/office/drawing/2014/main" id="{31DB5629-5BF5-9DEA-7C79-46B1C869D55E}"/>
              </a:ext>
            </a:extLst>
          </p:cNvPr>
          <p:cNvSpPr/>
          <p:nvPr/>
        </p:nvSpPr>
        <p:spPr>
          <a:xfrm>
            <a:off x="206822" y="110881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DD1D6E82-2AA0-9E93-4568-4FDD000CA334}"/>
              </a:ext>
            </a:extLst>
          </p:cNvPr>
          <p:cNvSpPr txBox="1"/>
          <p:nvPr/>
        </p:nvSpPr>
        <p:spPr>
          <a:xfrm>
            <a:off x="206822" y="110881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7</a:t>
            </a:r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4556E3B6-1B11-BCC7-2C69-CBABFD071D7B}"/>
              </a:ext>
            </a:extLst>
          </p:cNvPr>
          <p:cNvSpPr/>
          <p:nvPr/>
        </p:nvSpPr>
        <p:spPr>
          <a:xfrm>
            <a:off x="206822" y="655209"/>
            <a:ext cx="1911531" cy="1428293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dirty="0" err="1">
                <a:latin typeface="Calibri "/>
              </a:rPr>
              <a:t>Fonctionnalités</a:t>
            </a:r>
            <a:r>
              <a:rPr lang="en-GB" sz="1050" dirty="0">
                <a:latin typeface="Calibri "/>
              </a:rPr>
              <a:t> :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>
                <a:latin typeface="Segoe UI" panose="020B0502040204020203" pitchFamily="34" charset="0"/>
              </a:rPr>
              <a:t>Historique</a:t>
            </a:r>
            <a:r>
              <a:rPr lang="en-GB" sz="1050" dirty="0">
                <a:latin typeface="Segoe UI" panose="020B0502040204020203" pitchFamily="34" charset="0"/>
              </a:rPr>
              <a:t> des </a:t>
            </a:r>
            <a:r>
              <a:rPr lang="en-GB" sz="1050" dirty="0" err="1">
                <a:latin typeface="Segoe UI" panose="020B0502040204020203" pitchFamily="34" charset="0"/>
              </a:rPr>
              <a:t>emprunts</a:t>
            </a:r>
            <a:endParaRPr lang="en-GB" sz="1050" dirty="0">
              <a:latin typeface="Segoe UI" panose="020B0502040204020203" pitchFamily="34" charset="0"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Segoe UI" panose="020B0502040204020203" pitchFamily="34" charset="0"/>
              </a:rPr>
              <a:t>Date </a:t>
            </a:r>
            <a:r>
              <a:rPr lang="en-GB" sz="1050" dirty="0" err="1">
                <a:latin typeface="Segoe UI" panose="020B0502040204020203" pitchFamily="34" charset="0"/>
              </a:rPr>
              <a:t>emprunt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Segoe UI" panose="020B0502040204020203" pitchFamily="34" charset="0"/>
              </a:rPr>
              <a:t>Date </a:t>
            </a:r>
            <a:r>
              <a:rPr lang="en-GB" sz="1050" dirty="0" err="1">
                <a:latin typeface="Segoe UI" panose="020B0502040204020203" pitchFamily="34" charset="0"/>
              </a:rPr>
              <a:t>limite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>
                <a:latin typeface="Segoe UI" panose="020B0502040204020203" pitchFamily="34" charset="0"/>
              </a:rPr>
              <a:t>Jours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  <a:r>
              <a:rPr lang="en-GB" sz="1050" dirty="0" err="1">
                <a:latin typeface="Segoe UI" panose="020B0502040204020203" pitchFamily="34" charset="0"/>
              </a:rPr>
              <a:t>restants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>
                <a:latin typeface="Segoe UI" panose="020B0502040204020203" pitchFamily="34" charset="0"/>
              </a:rPr>
              <a:t>Retard 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050" dirty="0" err="1">
                <a:latin typeface="Segoe UI" panose="020B0502040204020203" pitchFamily="34" charset="0"/>
              </a:rPr>
              <a:t>Statut</a:t>
            </a:r>
            <a:endParaRPr lang="en-GB" sz="1050" dirty="0"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56F49-00D6-A3BD-1EFC-AE72FC4F8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22" y="2207830"/>
            <a:ext cx="8819612" cy="41929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FC16C0-CA94-B563-1419-B693B2D25106}"/>
              </a:ext>
            </a:extLst>
          </p:cNvPr>
          <p:cNvSpPr txBox="1"/>
          <p:nvPr/>
        </p:nvSpPr>
        <p:spPr>
          <a:xfrm>
            <a:off x="714103" y="110881"/>
            <a:ext cx="605467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08464C"/>
                </a:solidFill>
                <a:latin typeface="Calibri"/>
              </a:rPr>
              <a:t>Interface </a:t>
            </a:r>
            <a:r>
              <a:rPr lang="en-GB" sz="2000" b="1" dirty="0" err="1">
                <a:solidFill>
                  <a:srgbClr val="08464C"/>
                </a:solidFill>
                <a:latin typeface="Calibri"/>
              </a:rPr>
              <a:t>utilisateur</a:t>
            </a:r>
            <a:r>
              <a:rPr lang="en-GB" sz="2000" b="1" dirty="0">
                <a:solidFill>
                  <a:srgbClr val="08464C"/>
                </a:solidFill>
                <a:latin typeface="Calibri"/>
              </a:rPr>
              <a:t> - Gestion des </a:t>
            </a:r>
            <a:r>
              <a:rPr lang="en-GB" sz="2000" b="1" dirty="0" err="1">
                <a:solidFill>
                  <a:srgbClr val="08464C"/>
                </a:solidFill>
                <a:latin typeface="Calibri"/>
              </a:rPr>
              <a:t>emprunts</a:t>
            </a:r>
            <a:r>
              <a:rPr lang="en-GB" sz="2000" b="1" dirty="0">
                <a:solidFill>
                  <a:srgbClr val="08464C"/>
                </a:solidFill>
                <a:latin typeface="Calibri"/>
              </a:rPr>
              <a:t>  (Frontend)</a:t>
            </a:r>
            <a:endParaRPr lang="fr-FR" sz="2000" b="1" dirty="0">
              <a:solidFill>
                <a:srgbClr val="08464C"/>
              </a:solidFill>
              <a:latin typeface="Calibri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4596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9FBA-3DFD-6F53-D8F0-B14C3FA7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0D243E93-7FF7-9FC5-5BC4-150814B3870B}"/>
              </a:ext>
            </a:extLst>
          </p:cNvPr>
          <p:cNvSpPr txBox="1"/>
          <p:nvPr/>
        </p:nvSpPr>
        <p:spPr>
          <a:xfrm>
            <a:off x="71600" y="782897"/>
            <a:ext cx="5514703" cy="3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fontAlgn="t">
              <a:lnSpc>
                <a:spcPts val="1500"/>
              </a:lnSpc>
              <a:buNone/>
              <a:defRPr sz="1050" b="0">
                <a:solidFill>
                  <a:srgbClr val="08464C"/>
                </a:solidFill>
              </a:defRPr>
            </a:lvl1pPr>
          </a:lstStyle>
          <a:p>
            <a:r>
              <a:rPr lang="en-GB" sz="1400" dirty="0" err="1"/>
              <a:t>Chaque</a:t>
            </a:r>
            <a:r>
              <a:rPr lang="en-GB" sz="1400" dirty="0"/>
              <a:t> </a:t>
            </a:r>
            <a:r>
              <a:rPr lang="en-GB" sz="1400" dirty="0" err="1"/>
              <a:t>composant</a:t>
            </a:r>
            <a:r>
              <a:rPr lang="en-GB" sz="1400" dirty="0"/>
              <a:t> dispose de son propre </a:t>
            </a:r>
            <a:r>
              <a:rPr lang="en-GB" sz="1400" dirty="0" err="1"/>
              <a:t>Dockerfile</a:t>
            </a:r>
            <a:r>
              <a:rPr lang="en-GB" sz="1400" dirty="0"/>
              <a:t>.</a:t>
            </a:r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00B17974-283B-5AB3-B509-8DB1C7DF43CE}"/>
              </a:ext>
            </a:extLst>
          </p:cNvPr>
          <p:cNvSpPr/>
          <p:nvPr/>
        </p:nvSpPr>
        <p:spPr>
          <a:xfrm>
            <a:off x="685800" y="2153143"/>
            <a:ext cx="2286000" cy="2286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1A156C0-FC36-B4C7-BB1D-C973841856C2}"/>
              </a:ext>
            </a:extLst>
          </p:cNvPr>
          <p:cNvSpPr txBox="1"/>
          <p:nvPr/>
        </p:nvSpPr>
        <p:spPr>
          <a:xfrm>
            <a:off x="685800" y="2153143"/>
            <a:ext cx="2286000" cy="228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endParaRPr lang="en-GB" sz="1400" dirty="0"/>
          </a:p>
        </p:txBody>
      </p:sp>
      <p:sp>
        <p:nvSpPr>
          <p:cNvPr id="14" name="Oval 14">
            <a:extLst>
              <a:ext uri="{FF2B5EF4-FFF2-40B4-BE49-F238E27FC236}">
                <a16:creationId xmlns:a16="http://schemas.microsoft.com/office/drawing/2014/main" id="{C3BCC907-8C36-DEC4-4175-555FB1269F62}"/>
              </a:ext>
            </a:extLst>
          </p:cNvPr>
          <p:cNvSpPr/>
          <p:nvPr/>
        </p:nvSpPr>
        <p:spPr>
          <a:xfrm>
            <a:off x="3429000" y="2153143"/>
            <a:ext cx="2286000" cy="2286000"/>
          </a:xfrm>
          <a:prstGeom prst="ellipse">
            <a:avLst/>
          </a:prstGeom>
          <a:solidFill>
            <a:srgbClr val="C1443C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0BEDC11-27ED-0E07-3C80-45539E4A06C2}"/>
              </a:ext>
            </a:extLst>
          </p:cNvPr>
          <p:cNvSpPr txBox="1"/>
          <p:nvPr/>
        </p:nvSpPr>
        <p:spPr>
          <a:xfrm>
            <a:off x="3429000" y="2153143"/>
            <a:ext cx="2286000" cy="228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endParaRPr lang="fr-FR"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Oval 16">
            <a:extLst>
              <a:ext uri="{FF2B5EF4-FFF2-40B4-BE49-F238E27FC236}">
                <a16:creationId xmlns:a16="http://schemas.microsoft.com/office/drawing/2014/main" id="{50FCC7D4-7409-B585-4540-E6E13746769D}"/>
              </a:ext>
            </a:extLst>
          </p:cNvPr>
          <p:cNvSpPr/>
          <p:nvPr/>
        </p:nvSpPr>
        <p:spPr>
          <a:xfrm>
            <a:off x="6172200" y="2153143"/>
            <a:ext cx="2286000" cy="228600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4E60AC0-24BF-A7CF-4125-2043FA0122E0}"/>
              </a:ext>
            </a:extLst>
          </p:cNvPr>
          <p:cNvSpPr txBox="1"/>
          <p:nvPr/>
        </p:nvSpPr>
        <p:spPr>
          <a:xfrm>
            <a:off x="6172200" y="2153143"/>
            <a:ext cx="2286000" cy="228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endParaRPr lang="fr-FR"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Arrow 18">
            <a:extLst>
              <a:ext uri="{FF2B5EF4-FFF2-40B4-BE49-F238E27FC236}">
                <a16:creationId xmlns:a16="http://schemas.microsoft.com/office/drawing/2014/main" id="{150D4139-EB35-E463-A6F2-4B8574EA10E0}"/>
              </a:ext>
            </a:extLst>
          </p:cNvPr>
          <p:cNvSpPr/>
          <p:nvPr/>
        </p:nvSpPr>
        <p:spPr>
          <a:xfrm>
            <a:off x="3010000" y="3103143"/>
            <a:ext cx="400000" cy="340000"/>
          </a:xfrm>
          <a:prstGeom prst="rightArrow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9" name="Arrow 19">
            <a:extLst>
              <a:ext uri="{FF2B5EF4-FFF2-40B4-BE49-F238E27FC236}">
                <a16:creationId xmlns:a16="http://schemas.microsoft.com/office/drawing/2014/main" id="{B69DF58C-1F2C-4CA1-903C-3611BA885863}"/>
              </a:ext>
            </a:extLst>
          </p:cNvPr>
          <p:cNvSpPr/>
          <p:nvPr/>
        </p:nvSpPr>
        <p:spPr>
          <a:xfrm>
            <a:off x="5753000" y="3103143"/>
            <a:ext cx="400000" cy="340000"/>
          </a:xfrm>
          <a:prstGeom prst="rightArrow">
            <a:avLst/>
          </a:prstGeom>
          <a:solidFill>
            <a:srgbClr val="C1443C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" name="Oval 21">
            <a:extLst>
              <a:ext uri="{FF2B5EF4-FFF2-40B4-BE49-F238E27FC236}">
                <a16:creationId xmlns:a16="http://schemas.microsoft.com/office/drawing/2014/main" id="{0533858B-5255-BA0C-AF94-C5D3A2EBEACB}"/>
              </a:ext>
            </a:extLst>
          </p:cNvPr>
          <p:cNvSpPr/>
          <p:nvPr/>
        </p:nvSpPr>
        <p:spPr>
          <a:xfrm>
            <a:off x="71600" y="143907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9D3230E3-59FC-ED8A-FA4C-6BA973B0DE90}"/>
              </a:ext>
            </a:extLst>
          </p:cNvPr>
          <p:cNvSpPr txBox="1"/>
          <p:nvPr/>
        </p:nvSpPr>
        <p:spPr>
          <a:xfrm>
            <a:off x="71600" y="143907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8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5FA28538-C0F8-A6ED-AE20-E654A9735C7B}"/>
              </a:ext>
            </a:extLst>
          </p:cNvPr>
          <p:cNvSpPr txBox="1"/>
          <p:nvPr/>
        </p:nvSpPr>
        <p:spPr>
          <a:xfrm>
            <a:off x="685799" y="143907"/>
            <a:ext cx="5906589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 err="1"/>
              <a:t>Conteneurisation</a:t>
            </a:r>
            <a:r>
              <a:rPr lang="en-GB" dirty="0"/>
              <a:t> avec Docker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ED3215-52FF-743A-CD2D-70AB0D67437F}"/>
              </a:ext>
            </a:extLst>
          </p:cNvPr>
          <p:cNvSpPr txBox="1"/>
          <p:nvPr/>
        </p:nvSpPr>
        <p:spPr>
          <a:xfrm>
            <a:off x="1080000" y="2449250"/>
            <a:ext cx="147280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sz="1500" b="1" dirty="0">
                <a:solidFill>
                  <a:srgbClr val="FFFFFF"/>
                </a:solidFill>
                <a:latin typeface="Calibri"/>
              </a:rPr>
              <a:t>Services Docker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58DC7-BE0B-9F72-0892-28BD11AE6E1F}"/>
              </a:ext>
            </a:extLst>
          </p:cNvPr>
          <p:cNvSpPr txBox="1"/>
          <p:nvPr/>
        </p:nvSpPr>
        <p:spPr>
          <a:xfrm>
            <a:off x="1080000" y="2795780"/>
            <a:ext cx="16980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</a:rPr>
              <a:t>backend-livres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</a:rPr>
              <a:t>backend-</a:t>
            </a:r>
            <a:r>
              <a:rPr lang="en-GB" sz="1200" b="1" dirty="0" err="1">
                <a:solidFill>
                  <a:schemeClr val="bg1"/>
                </a:solidFill>
              </a:rPr>
              <a:t>utilisateurs</a:t>
            </a:r>
            <a:endParaRPr lang="en-GB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</a:rPr>
              <a:t>backend-</a:t>
            </a:r>
            <a:r>
              <a:rPr lang="en-GB" sz="1200" b="1" dirty="0" err="1">
                <a:solidFill>
                  <a:schemeClr val="bg1"/>
                </a:solidFill>
              </a:rPr>
              <a:t>emprunts</a:t>
            </a:r>
            <a:endParaRPr lang="en-GB" sz="1200" b="1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>
                <a:solidFill>
                  <a:schemeClr val="bg1"/>
                </a:solidFill>
              </a:rPr>
              <a:t>frontend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b="1" dirty="0" err="1">
                <a:solidFill>
                  <a:schemeClr val="bg1"/>
                </a:solidFill>
              </a:rPr>
              <a:t>postgres</a:t>
            </a:r>
            <a:endParaRPr lang="en-GB" sz="1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A844F-9FFF-79FC-A1EB-5307A7289E58}"/>
              </a:ext>
            </a:extLst>
          </p:cNvPr>
          <p:cNvSpPr txBox="1"/>
          <p:nvPr/>
        </p:nvSpPr>
        <p:spPr>
          <a:xfrm>
            <a:off x="3835600" y="2456204"/>
            <a:ext cx="14728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sz="1500" b="1" dirty="0" err="1">
                <a:solidFill>
                  <a:srgbClr val="FFFFFF"/>
                </a:solidFill>
                <a:latin typeface="Calibri"/>
              </a:rPr>
              <a:t>Avantages</a:t>
            </a:r>
            <a:endParaRPr lang="en-GB" sz="1500" b="1" dirty="0">
              <a:solidFill>
                <a:srgbClr val="FFFFFF"/>
              </a:solidFill>
              <a:latin typeface="Calibri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500" b="1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endParaRPr lang="en-GB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AA190C-025A-70BD-8DF8-D55DF3C7C999}"/>
              </a:ext>
            </a:extLst>
          </p:cNvPr>
          <p:cNvSpPr txBox="1"/>
          <p:nvPr/>
        </p:nvSpPr>
        <p:spPr>
          <a:xfrm>
            <a:off x="3639093" y="2784426"/>
            <a:ext cx="1947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171450" indent="-171450">
              <a:buFont typeface="Arial" panose="020B0604020202020204" pitchFamily="34" charset="0"/>
              <a:buChar char="•"/>
              <a:defRPr sz="1200"/>
            </a:lvl1pPr>
          </a:lstStyle>
          <a:p>
            <a:r>
              <a:rPr lang="en-GB" b="1" dirty="0" err="1">
                <a:solidFill>
                  <a:schemeClr val="bg1"/>
                </a:solidFill>
              </a:rPr>
              <a:t>Portabilité</a:t>
            </a:r>
            <a:endParaRPr lang="en-GB" b="1" dirty="0">
              <a:solidFill>
                <a:schemeClr val="bg1"/>
              </a:solidFill>
            </a:endParaRPr>
          </a:p>
          <a:p>
            <a:r>
              <a:rPr lang="en-GB" b="1" dirty="0" err="1">
                <a:solidFill>
                  <a:schemeClr val="bg1"/>
                </a:solidFill>
              </a:rPr>
              <a:t>Reproductibilité</a:t>
            </a:r>
            <a:endParaRPr lang="en-GB" b="1" dirty="0">
              <a:solidFill>
                <a:schemeClr val="bg1"/>
              </a:solidFill>
            </a:endParaRPr>
          </a:p>
          <a:p>
            <a:r>
              <a:rPr lang="en-GB" b="1" dirty="0" err="1">
                <a:solidFill>
                  <a:schemeClr val="bg1"/>
                </a:solidFill>
              </a:rPr>
              <a:t>Déploiement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simplifié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5744EB-CD5F-7E4C-D19F-2A57FCC716F6}"/>
              </a:ext>
            </a:extLst>
          </p:cNvPr>
          <p:cNvSpPr txBox="1"/>
          <p:nvPr/>
        </p:nvSpPr>
        <p:spPr>
          <a:xfrm>
            <a:off x="6341595" y="2858278"/>
            <a:ext cx="19472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Dockerfile</a:t>
            </a:r>
            <a:endParaRPr lang="en-GB" dirty="0"/>
          </a:p>
          <a:p>
            <a:r>
              <a:rPr lang="en-GB" dirty="0" err="1"/>
              <a:t>Jenkinsfile</a:t>
            </a:r>
            <a:endParaRPr lang="en-GB" dirty="0"/>
          </a:p>
          <a:p>
            <a:r>
              <a:rPr lang="en-GB" dirty="0"/>
              <a:t>docker-</a:t>
            </a:r>
            <a:r>
              <a:rPr lang="en-GB" dirty="0" err="1"/>
              <a:t>compose.yml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2707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3718-78D7-73AA-561C-0E11C295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57655931-2472-FE5A-374E-BE1921557032}"/>
              </a:ext>
            </a:extLst>
          </p:cNvPr>
          <p:cNvSpPr txBox="1"/>
          <p:nvPr/>
        </p:nvSpPr>
        <p:spPr>
          <a:xfrm>
            <a:off x="71600" y="731637"/>
            <a:ext cx="6163737" cy="3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fontAlgn="t">
              <a:lnSpc>
                <a:spcPts val="1500"/>
              </a:lnSpc>
              <a:buNone/>
              <a:defRPr sz="1050" b="0">
                <a:solidFill>
                  <a:srgbClr val="08464C"/>
                </a:solidFill>
              </a:defRPr>
            </a:lvl1pPr>
          </a:lstStyle>
          <a:p>
            <a:r>
              <a:rPr lang="en-GB" sz="1400" dirty="0"/>
              <a:t>Le </a:t>
            </a:r>
            <a:r>
              <a:rPr lang="en-GB" sz="1400" dirty="0" err="1"/>
              <a:t>projet</a:t>
            </a:r>
            <a:r>
              <a:rPr lang="en-GB" sz="1400" dirty="0"/>
              <a:t> utilise Docker Compose pour lancer </a:t>
            </a:r>
            <a:r>
              <a:rPr lang="en-GB" sz="1400" dirty="0" err="1"/>
              <a:t>simultanément</a:t>
            </a:r>
            <a:r>
              <a:rPr lang="en-GB" sz="1400" dirty="0"/>
              <a:t> </a:t>
            </a:r>
            <a:r>
              <a:rPr lang="en-GB" sz="1400" dirty="0" err="1"/>
              <a:t>tous</a:t>
            </a:r>
            <a:r>
              <a:rPr lang="en-GB" sz="1400" dirty="0"/>
              <a:t> les services.</a:t>
            </a:r>
          </a:p>
          <a:p>
            <a:endParaRPr lang="en-GB" sz="1400" dirty="0"/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92A77E15-E179-E450-76E3-667BE6758344}"/>
              </a:ext>
            </a:extLst>
          </p:cNvPr>
          <p:cNvSpPr/>
          <p:nvPr/>
        </p:nvSpPr>
        <p:spPr>
          <a:xfrm>
            <a:off x="116051" y="1059461"/>
            <a:ext cx="2286000" cy="2286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B2BFDB9-1E64-0B03-3384-DE2B3621E4AC}"/>
              </a:ext>
            </a:extLst>
          </p:cNvPr>
          <p:cNvSpPr txBox="1"/>
          <p:nvPr/>
        </p:nvSpPr>
        <p:spPr>
          <a:xfrm>
            <a:off x="116051" y="287343"/>
            <a:ext cx="2286000" cy="2286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fontAlgn="t">
              <a:lnSpc>
                <a:spcPts val="1500"/>
              </a:lnSpc>
              <a:buNone/>
              <a:defRPr sz="1050" b="0">
                <a:solidFill>
                  <a:srgbClr val="08464C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Oval 21">
            <a:extLst>
              <a:ext uri="{FF2B5EF4-FFF2-40B4-BE49-F238E27FC236}">
                <a16:creationId xmlns:a16="http://schemas.microsoft.com/office/drawing/2014/main" id="{3304C759-5E1C-0FA1-0AEC-567159ED11B8}"/>
              </a:ext>
            </a:extLst>
          </p:cNvPr>
          <p:cNvSpPr/>
          <p:nvPr/>
        </p:nvSpPr>
        <p:spPr>
          <a:xfrm>
            <a:off x="71600" y="143907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DBC43978-6F6A-15D7-0BE8-0C106727D066}"/>
              </a:ext>
            </a:extLst>
          </p:cNvPr>
          <p:cNvSpPr txBox="1"/>
          <p:nvPr/>
        </p:nvSpPr>
        <p:spPr>
          <a:xfrm>
            <a:off x="71600" y="143907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9</a:t>
            </a:r>
          </a:p>
        </p:txBody>
      </p:sp>
      <p:sp>
        <p:nvSpPr>
          <p:cNvPr id="7" name="TextBox 23">
            <a:extLst>
              <a:ext uri="{FF2B5EF4-FFF2-40B4-BE49-F238E27FC236}">
                <a16:creationId xmlns:a16="http://schemas.microsoft.com/office/drawing/2014/main" id="{B8C7080E-7790-7334-5F28-06F8628E01FE}"/>
              </a:ext>
            </a:extLst>
          </p:cNvPr>
          <p:cNvSpPr txBox="1"/>
          <p:nvPr/>
        </p:nvSpPr>
        <p:spPr>
          <a:xfrm>
            <a:off x="685799" y="143907"/>
            <a:ext cx="6620692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Orchestration avec Docker compose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9ED841-D0CF-DB36-2662-6FB0E714E9CC}"/>
              </a:ext>
            </a:extLst>
          </p:cNvPr>
          <p:cNvSpPr txBox="1"/>
          <p:nvPr/>
        </p:nvSpPr>
        <p:spPr>
          <a:xfrm>
            <a:off x="522651" y="1430343"/>
            <a:ext cx="14728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sz="1500" b="1">
                <a:solidFill>
                  <a:srgbClr val="FFFFFF"/>
                </a:solidFill>
                <a:latin typeface="Calibri"/>
              </a:rPr>
              <a:t>Services lancés</a:t>
            </a:r>
          </a:p>
          <a:p>
            <a:pPr fontAlgn="t">
              <a:lnSpc>
                <a:spcPts val="1500"/>
              </a:lnSpc>
              <a:buNone/>
            </a:pPr>
            <a:endParaRPr lang="en-GB" sz="1500" b="1" dirty="0">
              <a:solidFill>
                <a:srgbClr val="FFFFFF"/>
              </a:solidFill>
              <a:latin typeface="Calibri"/>
            </a:endParaRP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1B661-8D98-46B6-7045-2CDEF6F1EF77}"/>
              </a:ext>
            </a:extLst>
          </p:cNvPr>
          <p:cNvSpPr txBox="1"/>
          <p:nvPr/>
        </p:nvSpPr>
        <p:spPr>
          <a:xfrm>
            <a:off x="522651" y="1776873"/>
            <a:ext cx="1698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171450" indent="-171450">
              <a:buFont typeface="Arial" panose="020B0604020202020204" pitchFamily="34" charset="0"/>
              <a:buChar char="•"/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Frontend</a:t>
            </a:r>
          </a:p>
          <a:p>
            <a:r>
              <a:rPr lang="en-GB" dirty="0"/>
              <a:t>Backend Livres</a:t>
            </a:r>
          </a:p>
          <a:p>
            <a:r>
              <a:rPr lang="en-GB" dirty="0"/>
              <a:t>Backend Utilisateurs</a:t>
            </a:r>
          </a:p>
          <a:p>
            <a:r>
              <a:rPr lang="en-GB" dirty="0"/>
              <a:t>Backend </a:t>
            </a:r>
            <a:r>
              <a:rPr lang="en-GB" dirty="0" err="1"/>
              <a:t>Emprunts</a:t>
            </a:r>
            <a:endParaRPr lang="en-GB" dirty="0"/>
          </a:p>
          <a:p>
            <a:r>
              <a:rPr lang="en-GB" dirty="0"/>
              <a:t>PostgreSQL</a:t>
            </a:r>
          </a:p>
          <a:p>
            <a:r>
              <a:rPr lang="en-GB" dirty="0"/>
              <a:t>Jenkins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E50EA0-73EB-BEA1-F3EF-4B7CABE34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285" y="1239367"/>
            <a:ext cx="6400664" cy="23432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3C6BF1F-DCAA-E62A-60EF-D64A3641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697" y="3582637"/>
            <a:ext cx="7817252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84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/>
          <p:nvPr/>
        </p:nvSpPr>
        <p:spPr>
          <a:xfrm>
            <a:off x="685800" y="1550000"/>
            <a:ext cx="7772400" cy="650000"/>
          </a:xfrm>
          <a:prstGeom prst="roundRect">
            <a:avLst>
              <a:gd name="adj" fmla="val 10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3" name="Shape 13"/>
          <p:cNvSpPr/>
          <p:nvPr/>
        </p:nvSpPr>
        <p:spPr>
          <a:xfrm>
            <a:off x="685800" y="1550000"/>
            <a:ext cx="1926770" cy="650000"/>
          </a:xfrm>
          <a:prstGeom prst="roundRect">
            <a:avLst>
              <a:gd name="adj" fmla="val 10000"/>
            </a:avLst>
          </a:prstGeom>
          <a:solidFill>
            <a:srgbClr val="0A6E77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4" name="TextBox 14"/>
          <p:cNvSpPr txBox="1"/>
          <p:nvPr/>
        </p:nvSpPr>
        <p:spPr>
          <a:xfrm>
            <a:off x="685799" y="1681338"/>
            <a:ext cx="1710369" cy="44267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fontAlgn="t">
              <a:lnSpc>
                <a:spcPts val="1500"/>
              </a:lnSpc>
            </a:pPr>
            <a:r>
              <a:rPr lang="en-GB" b="1" dirty="0">
                <a:solidFill>
                  <a:srgbClr val="FFFFFF"/>
                </a:solidFill>
                <a:latin typeface="Calibri"/>
              </a:rPr>
              <a:t> </a:t>
            </a:r>
          </a:p>
          <a:p>
            <a:pPr algn="ctr" fontAlgn="t">
              <a:lnSpc>
                <a:spcPts val="1500"/>
              </a:lnSpc>
            </a:pPr>
            <a:r>
              <a:rPr lang="en-GB" sz="1400" b="1" dirty="0">
                <a:solidFill>
                  <a:srgbClr val="FFFFFF"/>
                </a:solidFill>
                <a:latin typeface="Calibri"/>
              </a:rPr>
              <a:t>1. </a:t>
            </a:r>
            <a:r>
              <a:rPr lang="en-GB" sz="1400" b="1" dirty="0" err="1">
                <a:solidFill>
                  <a:srgbClr val="FFFFFF"/>
                </a:solidFill>
                <a:latin typeface="Calibri"/>
              </a:rPr>
              <a:t>Récupération</a:t>
            </a:r>
            <a:r>
              <a:rPr lang="en-GB" sz="1400" b="1" dirty="0">
                <a:solidFill>
                  <a:srgbClr val="FFFFFF"/>
                </a:solidFill>
                <a:latin typeface="Calibri"/>
              </a:rPr>
              <a:t> du code</a:t>
            </a:r>
          </a:p>
          <a:p>
            <a:pPr algn="l"/>
            <a:endParaRPr lang="fr-FR"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39290" y="1550000"/>
            <a:ext cx="5310709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sz="1600" dirty="0"/>
              <a:t>GitHub → Jenkins</a:t>
            </a:r>
            <a:endParaRPr lang="fr-FR" sz="17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85800" y="2400000"/>
            <a:ext cx="7772400" cy="650000"/>
          </a:xfrm>
          <a:prstGeom prst="roundRect">
            <a:avLst>
              <a:gd name="adj" fmla="val 10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7" name="Shape 17"/>
          <p:cNvSpPr/>
          <p:nvPr/>
        </p:nvSpPr>
        <p:spPr>
          <a:xfrm>
            <a:off x="685800" y="2400000"/>
            <a:ext cx="1926770" cy="650000"/>
          </a:xfrm>
          <a:prstGeom prst="roundRect">
            <a:avLst>
              <a:gd name="adj" fmla="val 10000"/>
            </a:avLst>
          </a:prstGeom>
          <a:solidFill>
            <a:srgbClr val="0A6E77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18" name="TextBox 18"/>
          <p:cNvSpPr txBox="1"/>
          <p:nvPr/>
        </p:nvSpPr>
        <p:spPr>
          <a:xfrm>
            <a:off x="685800" y="2491602"/>
            <a:ext cx="1500000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 fontAlgn="t">
              <a:lnSpc>
                <a:spcPts val="1500"/>
              </a:lnSpc>
              <a:buNone/>
              <a:defRPr b="1">
                <a:solidFill>
                  <a:srgbClr val="FFFFFF"/>
                </a:solidFill>
                <a:latin typeface="Calibri"/>
              </a:defRPr>
            </a:lvl1pPr>
          </a:lstStyle>
          <a:p>
            <a:pPr algn="ctr"/>
            <a:r>
              <a:rPr lang="en-GB" sz="1400" dirty="0"/>
              <a:t>2. Construction des images Docker</a:t>
            </a:r>
          </a:p>
          <a:p>
            <a:endParaRPr lang="fr-FR" sz="1400" dirty="0"/>
          </a:p>
        </p:txBody>
      </p:sp>
      <p:sp>
        <p:nvSpPr>
          <p:cNvPr id="19" name="TextBox 19"/>
          <p:cNvSpPr txBox="1"/>
          <p:nvPr/>
        </p:nvSpPr>
        <p:spPr>
          <a:xfrm>
            <a:off x="3039290" y="2400000"/>
            <a:ext cx="5310710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sz="1600" dirty="0"/>
              <a:t>docker compose build</a:t>
            </a:r>
            <a:endParaRPr lang="fr-FR" sz="17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85800" y="3250000"/>
            <a:ext cx="7772400" cy="650000"/>
          </a:xfrm>
          <a:prstGeom prst="roundRect">
            <a:avLst>
              <a:gd name="adj" fmla="val 10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1" name="Shape 21"/>
          <p:cNvSpPr/>
          <p:nvPr/>
        </p:nvSpPr>
        <p:spPr>
          <a:xfrm>
            <a:off x="685799" y="3250000"/>
            <a:ext cx="1926769" cy="650000"/>
          </a:xfrm>
          <a:prstGeom prst="roundRect">
            <a:avLst>
              <a:gd name="adj" fmla="val 10000"/>
            </a:avLst>
          </a:prstGeom>
          <a:solidFill>
            <a:srgbClr val="0A6E77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2" name="TextBox 22"/>
          <p:cNvSpPr txBox="1"/>
          <p:nvPr/>
        </p:nvSpPr>
        <p:spPr>
          <a:xfrm>
            <a:off x="685798" y="3353409"/>
            <a:ext cx="1500000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fontAlgn="t">
              <a:lnSpc>
                <a:spcPts val="1500"/>
              </a:lnSpc>
              <a:buNone/>
            </a:pPr>
            <a:r>
              <a:rPr lang="fr-FR" sz="1400" b="1" dirty="0">
                <a:solidFill>
                  <a:srgbClr val="FFFFFF"/>
                </a:solidFill>
                <a:latin typeface="Calibri"/>
              </a:rPr>
              <a:t>3.</a:t>
            </a:r>
            <a:r>
              <a:rPr lang="en-GB" sz="1400" b="1" dirty="0" err="1">
                <a:solidFill>
                  <a:srgbClr val="FFFFFF"/>
                </a:solidFill>
                <a:latin typeface="Calibri"/>
              </a:rPr>
              <a:t>Déploiement</a:t>
            </a:r>
            <a:r>
              <a:rPr lang="en-GB"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1400" b="1" dirty="0" err="1">
                <a:solidFill>
                  <a:srgbClr val="FFFFFF"/>
                </a:solidFill>
                <a:latin typeface="Calibri"/>
              </a:rPr>
              <a:t>automatique</a:t>
            </a:r>
            <a:endParaRPr lang="en-GB" sz="1400" b="1" dirty="0">
              <a:solidFill>
                <a:srgbClr val="FFFFFF"/>
              </a:solidFill>
              <a:latin typeface="Calibri"/>
            </a:endParaRPr>
          </a:p>
          <a:p>
            <a:pPr algn="l"/>
            <a:endParaRPr lang="fr-FR"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039290" y="3250000"/>
            <a:ext cx="5310709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en-GB" sz="1600" dirty="0"/>
              <a:t>docker compose up -d</a:t>
            </a:r>
            <a:endParaRPr lang="fr-FR" sz="17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2612568" y="4080446"/>
            <a:ext cx="5845632" cy="650000"/>
          </a:xfrm>
          <a:prstGeom prst="roundRect">
            <a:avLst>
              <a:gd name="adj" fmla="val 10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5" name="Shape 25"/>
          <p:cNvSpPr/>
          <p:nvPr/>
        </p:nvSpPr>
        <p:spPr>
          <a:xfrm>
            <a:off x="685800" y="4100000"/>
            <a:ext cx="1926768" cy="650000"/>
          </a:xfrm>
          <a:prstGeom prst="roundRect">
            <a:avLst>
              <a:gd name="adj" fmla="val 10000"/>
            </a:avLst>
          </a:prstGeom>
          <a:solidFill>
            <a:srgbClr val="0A6E77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6" name="TextBox 26"/>
          <p:cNvSpPr txBox="1"/>
          <p:nvPr/>
        </p:nvSpPr>
        <p:spPr>
          <a:xfrm>
            <a:off x="794000" y="4203409"/>
            <a:ext cx="1500000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sz="1400" b="1" dirty="0">
                <a:solidFill>
                  <a:srgbClr val="FFFFFF"/>
                </a:solidFill>
                <a:latin typeface="Calibri"/>
              </a:rPr>
              <a:t>4.Vérification du </a:t>
            </a:r>
            <a:r>
              <a:rPr lang="en-GB" sz="1400" b="1" dirty="0" err="1">
                <a:solidFill>
                  <a:srgbClr val="FFFFFF"/>
                </a:solidFill>
                <a:latin typeface="Calibri"/>
              </a:rPr>
              <a:t>déploiement</a:t>
            </a:r>
            <a:endParaRPr lang="en-GB" sz="1400" b="1" dirty="0">
              <a:solidFill>
                <a:srgbClr val="FFFFFF"/>
              </a:solidFill>
              <a:latin typeface="Calibri"/>
            </a:endParaRPr>
          </a:p>
          <a:p>
            <a:pPr algn="l"/>
            <a:endParaRPr lang="fr-FR" sz="1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039290" y="4100000"/>
            <a:ext cx="5310710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700" dirty="0">
                <a:solidFill>
                  <a:srgbClr val="1F2A30"/>
                </a:solidFill>
                <a:latin typeface="Calibri"/>
              </a:rPr>
              <a:t>docker </a:t>
            </a:r>
            <a:r>
              <a:rPr lang="fr-FR" sz="1700" dirty="0" err="1">
                <a:solidFill>
                  <a:srgbClr val="1F2A30"/>
                </a:solidFill>
                <a:latin typeface="Calibri"/>
              </a:rPr>
              <a:t>ps</a:t>
            </a:r>
            <a:endParaRPr lang="fr-FR" sz="17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685800" y="4950000"/>
            <a:ext cx="7772400" cy="650000"/>
          </a:xfrm>
          <a:prstGeom prst="roundRect">
            <a:avLst>
              <a:gd name="adj" fmla="val 10000"/>
            </a:avLst>
          </a:prstGeom>
          <a:solidFill>
            <a:srgbClr val="EAF3F3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9" name="Shape 29"/>
          <p:cNvSpPr/>
          <p:nvPr/>
        </p:nvSpPr>
        <p:spPr>
          <a:xfrm>
            <a:off x="685799" y="4950000"/>
            <a:ext cx="1926767" cy="650000"/>
          </a:xfrm>
          <a:prstGeom prst="roundRect">
            <a:avLst>
              <a:gd name="adj" fmla="val 10000"/>
            </a:avLst>
          </a:prstGeom>
          <a:solidFill>
            <a:srgbClr val="0A6E77"/>
          </a:solidFill>
          <a:ln>
            <a:noFill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30" name="TextBox 30"/>
          <p:cNvSpPr txBox="1"/>
          <p:nvPr/>
        </p:nvSpPr>
        <p:spPr>
          <a:xfrm>
            <a:off x="622663" y="5016285"/>
            <a:ext cx="1499998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 fontAlgn="t">
              <a:lnSpc>
                <a:spcPts val="1500"/>
              </a:lnSpc>
              <a:buNone/>
            </a:pPr>
            <a:r>
              <a:rPr lang="en-GB" sz="1400" b="1" dirty="0" err="1">
                <a:solidFill>
                  <a:srgbClr val="FFFFFF"/>
                </a:solidFill>
                <a:latin typeface="Calibri"/>
              </a:rPr>
              <a:t>Jenkinsfile</a:t>
            </a:r>
            <a:endParaRPr lang="en-GB" sz="1400" b="1" dirty="0">
              <a:solidFill>
                <a:srgbClr val="FFFFFF"/>
              </a:solidFill>
              <a:latin typeface="Calibri"/>
            </a:endParaRPr>
          </a:p>
          <a:p>
            <a:pPr algn="l"/>
            <a:endParaRPr lang="fr-FR"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039290" y="4950000"/>
            <a:ext cx="5310710" cy="65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sz="1700" dirty="0">
                <a:solidFill>
                  <a:srgbClr val="1F2A30"/>
                </a:solidFill>
                <a:latin typeface="Calibri"/>
              </a:rPr>
              <a:t>Le pipeline est </a:t>
            </a:r>
            <a:r>
              <a:rPr lang="en-GB" sz="1700" dirty="0" err="1">
                <a:solidFill>
                  <a:srgbClr val="1F2A30"/>
                </a:solidFill>
                <a:latin typeface="Calibri"/>
              </a:rPr>
              <a:t>défini</a:t>
            </a:r>
            <a:r>
              <a:rPr lang="en-GB" sz="1700" dirty="0">
                <a:solidFill>
                  <a:srgbClr val="1F2A30"/>
                </a:solidFill>
                <a:latin typeface="Calibri"/>
              </a:rPr>
              <a:t> dans un </a:t>
            </a:r>
            <a:r>
              <a:rPr lang="en-GB" sz="1700" dirty="0" err="1">
                <a:solidFill>
                  <a:srgbClr val="1F2A30"/>
                </a:solidFill>
                <a:latin typeface="Calibri"/>
              </a:rPr>
              <a:t>fichier</a:t>
            </a:r>
            <a:r>
              <a:rPr lang="en-GB" sz="1700" dirty="0">
                <a:solidFill>
                  <a:srgbClr val="1F2A30"/>
                </a:solidFill>
                <a:latin typeface="Calibri"/>
              </a:rPr>
              <a:t> </a:t>
            </a:r>
            <a:r>
              <a:rPr lang="en-GB" sz="1700" dirty="0" err="1">
                <a:solidFill>
                  <a:srgbClr val="1F2A30"/>
                </a:solidFill>
                <a:latin typeface="Calibri"/>
              </a:rPr>
              <a:t>Jenkinsfile</a:t>
            </a:r>
            <a:r>
              <a:rPr lang="en-GB" sz="1700" dirty="0">
                <a:solidFill>
                  <a:srgbClr val="1F2A30"/>
                </a:solidFill>
                <a:latin typeface="Calibri"/>
              </a:rPr>
              <a:t> dans le dossier du </a:t>
            </a:r>
            <a:r>
              <a:rPr lang="en-GB" sz="1700" dirty="0" err="1">
                <a:solidFill>
                  <a:srgbClr val="1F2A30"/>
                </a:solidFill>
                <a:latin typeface="Calibri"/>
              </a:rPr>
              <a:t>projet</a:t>
            </a:r>
            <a:r>
              <a:rPr lang="en-GB" sz="1700" dirty="0">
                <a:solidFill>
                  <a:srgbClr val="1F2A30"/>
                </a:solidFill>
                <a:latin typeface="Calibri"/>
              </a:rPr>
              <a:t>.</a:t>
            </a:r>
          </a:p>
          <a:p>
            <a:pPr algn="l"/>
            <a:endParaRPr lang="fr-FR" sz="1700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32" name="Footer"/>
          <p:cNvSpPr/>
          <p:nvPr/>
        </p:nvSpPr>
        <p:spPr>
          <a:xfrm>
            <a:off x="457200" y="6629400"/>
            <a:ext cx="6800000" cy="18288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000">
                <a:solidFill>
                  <a:srgbClr val="5B6B70"/>
                </a:solidFill>
                <a:latin typeface="Calibri"/>
              </a:rPr>
              <a:t>Station météo + alarme - Thème 5 | Master 1 IA - DIT Dakar</a:t>
            </a:r>
          </a:p>
        </p:txBody>
      </p:sp>
      <p:sp>
        <p:nvSpPr>
          <p:cNvPr id="33" name="PageNum"/>
          <p:cNvSpPr/>
          <p:nvPr/>
        </p:nvSpPr>
        <p:spPr>
          <a:xfrm>
            <a:off x="8686800" y="6629400"/>
            <a:ext cx="300000" cy="182880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DDE5C338-0BD7-4683-B3D7-D7753D5E86DF}" type="slidenum">
              <a:rPr lang="fr-FR" sz="1000">
                <a:solidFill>
                  <a:srgbClr val="5B6B70"/>
                </a:solidFill>
                <a:latin typeface="Calibri"/>
              </a:rPr>
              <a:t>18</a:t>
            </a:fld>
            <a:endParaRPr lang="fr-FR" sz="100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7" name="Oval 21">
            <a:extLst>
              <a:ext uri="{FF2B5EF4-FFF2-40B4-BE49-F238E27FC236}">
                <a16:creationId xmlns:a16="http://schemas.microsoft.com/office/drawing/2014/main" id="{838B992C-6706-3D71-0FF4-16620AB01BC2}"/>
              </a:ext>
            </a:extLst>
          </p:cNvPr>
          <p:cNvSpPr/>
          <p:nvPr/>
        </p:nvSpPr>
        <p:spPr>
          <a:xfrm>
            <a:off x="71600" y="143907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060C7F22-0E63-E1D3-2BDB-A199F76C3B82}"/>
              </a:ext>
            </a:extLst>
          </p:cNvPr>
          <p:cNvSpPr txBox="1"/>
          <p:nvPr/>
        </p:nvSpPr>
        <p:spPr>
          <a:xfrm>
            <a:off x="71600" y="17444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 10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4D27D290-00CD-DCDB-22BA-2CE95DEEF04F}"/>
              </a:ext>
            </a:extLst>
          </p:cNvPr>
          <p:cNvSpPr txBox="1"/>
          <p:nvPr/>
        </p:nvSpPr>
        <p:spPr>
          <a:xfrm>
            <a:off x="685799" y="143907"/>
            <a:ext cx="6620692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Pipeline CI / CD avec JENKINS</a:t>
            </a: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0B69BB92-57BB-D708-EB97-2B02F87B3658}"/>
              </a:ext>
            </a:extLst>
          </p:cNvPr>
          <p:cNvSpPr txBox="1"/>
          <p:nvPr/>
        </p:nvSpPr>
        <p:spPr>
          <a:xfrm>
            <a:off x="71600" y="782897"/>
            <a:ext cx="3725337" cy="3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pPr fontAlgn="t">
              <a:lnSpc>
                <a:spcPts val="1500"/>
              </a:lnSpc>
              <a:buNone/>
            </a:pPr>
            <a:r>
              <a:rPr lang="en-GB" sz="1050" b="0" dirty="0">
                <a:latin typeface="+mn-lt"/>
              </a:rPr>
              <a:t>Le </a:t>
            </a:r>
            <a:r>
              <a:rPr lang="en-GB" sz="1050" b="0" dirty="0" err="1">
                <a:latin typeface="+mn-lt"/>
              </a:rPr>
              <a:t>projet</a:t>
            </a:r>
            <a:r>
              <a:rPr lang="en-GB" sz="1050" b="0" dirty="0">
                <a:latin typeface="+mn-lt"/>
              </a:rPr>
              <a:t> met </a:t>
            </a:r>
            <a:r>
              <a:rPr lang="en-GB" sz="1050" b="0" dirty="0" err="1">
                <a:latin typeface="+mn-lt"/>
              </a:rPr>
              <a:t>en</a:t>
            </a:r>
            <a:r>
              <a:rPr lang="en-GB" sz="1050" b="0" dirty="0">
                <a:latin typeface="+mn-lt"/>
              </a:rPr>
              <a:t> </a:t>
            </a:r>
            <a:r>
              <a:rPr lang="en-GB" sz="1050" b="0" dirty="0" err="1">
                <a:latin typeface="+mn-lt"/>
              </a:rPr>
              <a:t>œuvre</a:t>
            </a:r>
            <a:r>
              <a:rPr lang="en-GB" sz="1050" b="0" dirty="0">
                <a:latin typeface="+mn-lt"/>
              </a:rPr>
              <a:t> un pipeline CI/CD </a:t>
            </a:r>
            <a:r>
              <a:rPr lang="en-GB" sz="1050" b="0" dirty="0" err="1">
                <a:latin typeface="+mn-lt"/>
              </a:rPr>
              <a:t>automatisé</a:t>
            </a:r>
            <a:r>
              <a:rPr lang="en-GB" sz="1050" b="0" dirty="0">
                <a:latin typeface="+mn-lt"/>
              </a:rPr>
              <a:t>.</a:t>
            </a:r>
          </a:p>
          <a:p>
            <a:pPr fontAlgn="t">
              <a:lnSpc>
                <a:spcPts val="1500"/>
              </a:lnSpc>
              <a:buNone/>
            </a:pPr>
            <a:endParaRPr lang="en-GB" sz="1050" b="0" dirty="0">
              <a:latin typeface="+mn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2945E2-5AD1-0D53-BF82-47B4E13F4330}"/>
              </a:ext>
            </a:extLst>
          </p:cNvPr>
          <p:cNvSpPr txBox="1"/>
          <p:nvPr/>
        </p:nvSpPr>
        <p:spPr>
          <a:xfrm>
            <a:off x="622663" y="10177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rgbClr val="08464C"/>
                </a:solidFill>
                <a:latin typeface="Calibri "/>
              </a:rPr>
              <a:t>Étapes du pipeline</a:t>
            </a:r>
            <a:r>
              <a:rPr lang="en-GB" dirty="0">
                <a:effectLst/>
              </a:rPr>
              <a:t>​‌</a:t>
            </a:r>
            <a:endParaRPr lang="en-GB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F72C35-1C68-1A03-D722-6304D01BA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22" y="535198"/>
            <a:ext cx="4158345" cy="27296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872851-F510-217F-DEED-2505A1D8A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527" y="435428"/>
            <a:ext cx="3232825" cy="3048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DE195F-B0A1-3135-F0A5-ABABAB485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26" y="3677391"/>
            <a:ext cx="8464731" cy="29285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608A2E-4C64-8C29-15D5-49C12AB023AB}"/>
              </a:ext>
            </a:extLst>
          </p:cNvPr>
          <p:cNvSpPr txBox="1"/>
          <p:nvPr/>
        </p:nvSpPr>
        <p:spPr>
          <a:xfrm>
            <a:off x="535578" y="-13207"/>
            <a:ext cx="23034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b="1" dirty="0">
                <a:solidFill>
                  <a:srgbClr val="08464C"/>
                </a:solidFill>
                <a:latin typeface="Calibri "/>
              </a:rPr>
              <a:t>Étapes du </a:t>
            </a:r>
            <a:r>
              <a:rPr lang="en-GB" sz="1050" b="1" dirty="0" err="1">
                <a:solidFill>
                  <a:srgbClr val="08464C"/>
                </a:solidFill>
                <a:latin typeface="Calibri "/>
              </a:rPr>
              <a:t>paramétrage</a:t>
            </a:r>
            <a:r>
              <a:rPr lang="en-GB" sz="1050" b="1" dirty="0">
                <a:solidFill>
                  <a:srgbClr val="08464C"/>
                </a:solidFill>
                <a:latin typeface="Calibri "/>
              </a:rPr>
              <a:t> de </a:t>
            </a:r>
            <a:r>
              <a:rPr lang="en-GB" sz="1050" b="1" dirty="0" err="1">
                <a:solidFill>
                  <a:srgbClr val="08464C"/>
                </a:solidFill>
                <a:latin typeface="Calibri "/>
              </a:rPr>
              <a:t>JenKins</a:t>
            </a:r>
            <a:r>
              <a:rPr lang="en-GB" dirty="0">
                <a:effectLst/>
              </a:rPr>
              <a:t>​‌</a:t>
            </a:r>
            <a:endParaRPr lang="en-GB" dirty="0"/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77A3BEC3-AFEB-C59E-3789-9B8580A8F82E}"/>
              </a:ext>
            </a:extLst>
          </p:cNvPr>
          <p:cNvSpPr/>
          <p:nvPr/>
        </p:nvSpPr>
        <p:spPr>
          <a:xfrm>
            <a:off x="199822" y="1679722"/>
            <a:ext cx="335756" cy="297124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1D97F70-DADA-782A-61D2-4821A41A5279}"/>
              </a:ext>
            </a:extLst>
          </p:cNvPr>
          <p:cNvSpPr txBox="1"/>
          <p:nvPr/>
        </p:nvSpPr>
        <p:spPr>
          <a:xfrm>
            <a:off x="208171" y="1486347"/>
            <a:ext cx="335756" cy="3693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1</a:t>
            </a:r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4E20010E-056D-3C1C-A866-F4E67919EB14}"/>
              </a:ext>
            </a:extLst>
          </p:cNvPr>
          <p:cNvSpPr/>
          <p:nvPr/>
        </p:nvSpPr>
        <p:spPr>
          <a:xfrm>
            <a:off x="5054867" y="1588277"/>
            <a:ext cx="335756" cy="297124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5364F3BE-4180-7114-301D-597EDBA38FF8}"/>
              </a:ext>
            </a:extLst>
          </p:cNvPr>
          <p:cNvSpPr txBox="1"/>
          <p:nvPr/>
        </p:nvSpPr>
        <p:spPr>
          <a:xfrm>
            <a:off x="5063216" y="1394902"/>
            <a:ext cx="335756" cy="3693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2</a:t>
            </a:r>
          </a:p>
        </p:txBody>
      </p:sp>
      <p:sp>
        <p:nvSpPr>
          <p:cNvPr id="20" name="Oval 13">
            <a:extLst>
              <a:ext uri="{FF2B5EF4-FFF2-40B4-BE49-F238E27FC236}">
                <a16:creationId xmlns:a16="http://schemas.microsoft.com/office/drawing/2014/main" id="{4271BE07-ACBF-FD78-A937-AAA76194CEAB}"/>
              </a:ext>
            </a:extLst>
          </p:cNvPr>
          <p:cNvSpPr/>
          <p:nvPr/>
        </p:nvSpPr>
        <p:spPr>
          <a:xfrm>
            <a:off x="38710" y="4209566"/>
            <a:ext cx="335756" cy="297124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7C49AF22-9694-136F-5FB4-14A71B16FA30}"/>
              </a:ext>
            </a:extLst>
          </p:cNvPr>
          <p:cNvSpPr txBox="1"/>
          <p:nvPr/>
        </p:nvSpPr>
        <p:spPr>
          <a:xfrm>
            <a:off x="47059" y="4016191"/>
            <a:ext cx="335756" cy="3693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3</a:t>
            </a:r>
          </a:p>
        </p:txBody>
      </p:sp>
    </p:spTree>
    <p:extLst>
      <p:ext uri="{BB962C8B-B14F-4D97-AF65-F5344CB8AC3E}">
        <p14:creationId xmlns:p14="http://schemas.microsoft.com/office/powerpoint/2010/main" val="664426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BC6737-A23D-994D-055F-E11FD1A6C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52" y="139338"/>
            <a:ext cx="4045115" cy="25864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FD55C6-2B08-A154-25B4-7D9432376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175" y="0"/>
            <a:ext cx="4372597" cy="2711713"/>
          </a:xfrm>
          <a:prstGeom prst="rect">
            <a:avLst/>
          </a:prstGeom>
        </p:spPr>
      </p:pic>
      <p:sp>
        <p:nvSpPr>
          <p:cNvPr id="8" name="Oval 13">
            <a:extLst>
              <a:ext uri="{FF2B5EF4-FFF2-40B4-BE49-F238E27FC236}">
                <a16:creationId xmlns:a16="http://schemas.microsoft.com/office/drawing/2014/main" id="{B7E336D4-6801-E85F-A8AA-C6A72AF0292A}"/>
              </a:ext>
            </a:extLst>
          </p:cNvPr>
          <p:cNvSpPr/>
          <p:nvPr/>
        </p:nvSpPr>
        <p:spPr>
          <a:xfrm>
            <a:off x="-478" y="1052707"/>
            <a:ext cx="335756" cy="297124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0D63FCE2-B7FE-2758-17C5-A6D910F0A6BC}"/>
              </a:ext>
            </a:extLst>
          </p:cNvPr>
          <p:cNvSpPr txBox="1"/>
          <p:nvPr/>
        </p:nvSpPr>
        <p:spPr>
          <a:xfrm>
            <a:off x="7871" y="859332"/>
            <a:ext cx="335756" cy="3693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4</a:t>
            </a: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1C9520BC-7DC9-F696-DADF-5EFFFB2B59E6}"/>
              </a:ext>
            </a:extLst>
          </p:cNvPr>
          <p:cNvSpPr/>
          <p:nvPr/>
        </p:nvSpPr>
        <p:spPr>
          <a:xfrm>
            <a:off x="4441359" y="1052707"/>
            <a:ext cx="335756" cy="297124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3889C35-3CB3-91AE-1997-5F4BD81CD2F4}"/>
              </a:ext>
            </a:extLst>
          </p:cNvPr>
          <p:cNvSpPr txBox="1"/>
          <p:nvPr/>
        </p:nvSpPr>
        <p:spPr>
          <a:xfrm>
            <a:off x="4449708" y="859332"/>
            <a:ext cx="335756" cy="3693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C30246-9023-FCC3-D2D9-419548E22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52" y="3289025"/>
            <a:ext cx="4006439" cy="26127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DEEA6B-4326-3672-4EBD-E59F87472A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392" y="3100781"/>
            <a:ext cx="4438162" cy="3173743"/>
          </a:xfrm>
          <a:prstGeom prst="rect">
            <a:avLst/>
          </a:prstGeom>
        </p:spPr>
      </p:pic>
      <p:sp>
        <p:nvSpPr>
          <p:cNvPr id="22" name="Oval 13">
            <a:extLst>
              <a:ext uri="{FF2B5EF4-FFF2-40B4-BE49-F238E27FC236}">
                <a16:creationId xmlns:a16="http://schemas.microsoft.com/office/drawing/2014/main" id="{B207C37D-D02C-220D-00B1-41E11D96CE8E}"/>
              </a:ext>
            </a:extLst>
          </p:cNvPr>
          <p:cNvSpPr/>
          <p:nvPr/>
        </p:nvSpPr>
        <p:spPr>
          <a:xfrm>
            <a:off x="-4838" y="3913482"/>
            <a:ext cx="335756" cy="297124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Box 14">
            <a:extLst>
              <a:ext uri="{FF2B5EF4-FFF2-40B4-BE49-F238E27FC236}">
                <a16:creationId xmlns:a16="http://schemas.microsoft.com/office/drawing/2014/main" id="{555A6AC5-86E7-6F2D-AE14-26681AF53C89}"/>
              </a:ext>
            </a:extLst>
          </p:cNvPr>
          <p:cNvSpPr txBox="1"/>
          <p:nvPr/>
        </p:nvSpPr>
        <p:spPr>
          <a:xfrm>
            <a:off x="3511" y="3720107"/>
            <a:ext cx="335756" cy="3693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6</a:t>
            </a:r>
          </a:p>
        </p:txBody>
      </p:sp>
      <p:sp>
        <p:nvSpPr>
          <p:cNvPr id="26" name="Oval 13">
            <a:extLst>
              <a:ext uri="{FF2B5EF4-FFF2-40B4-BE49-F238E27FC236}">
                <a16:creationId xmlns:a16="http://schemas.microsoft.com/office/drawing/2014/main" id="{F0683673-999E-E960-8608-74CE62ED4886}"/>
              </a:ext>
            </a:extLst>
          </p:cNvPr>
          <p:cNvSpPr/>
          <p:nvPr/>
        </p:nvSpPr>
        <p:spPr>
          <a:xfrm>
            <a:off x="4380036" y="3913482"/>
            <a:ext cx="335756" cy="297124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Box 14">
            <a:extLst>
              <a:ext uri="{FF2B5EF4-FFF2-40B4-BE49-F238E27FC236}">
                <a16:creationId xmlns:a16="http://schemas.microsoft.com/office/drawing/2014/main" id="{0B22AA3E-ABD5-0365-C6AA-3D850AEEBD87}"/>
              </a:ext>
            </a:extLst>
          </p:cNvPr>
          <p:cNvSpPr txBox="1"/>
          <p:nvPr/>
        </p:nvSpPr>
        <p:spPr>
          <a:xfrm>
            <a:off x="4388385" y="3720107"/>
            <a:ext cx="335756" cy="3693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000" b="1" dirty="0">
                <a:solidFill>
                  <a:srgbClr val="FFFFFF"/>
                </a:solidFill>
                <a:latin typeface="Calibri"/>
              </a:rPr>
              <a:t>  7</a:t>
            </a:r>
          </a:p>
        </p:txBody>
      </p:sp>
    </p:spTree>
    <p:extLst>
      <p:ext uri="{BB962C8B-B14F-4D97-AF65-F5344CB8AC3E}">
        <p14:creationId xmlns:p14="http://schemas.microsoft.com/office/powerpoint/2010/main" val="3649774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DB641A-20D9-AC8F-6006-AD836F21E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801724"/>
              </p:ext>
            </p:extLst>
          </p:nvPr>
        </p:nvGraphicFramePr>
        <p:xfrm>
          <a:off x="106136" y="115638"/>
          <a:ext cx="3002824" cy="281940"/>
        </p:xfrm>
        <a:graphic>
          <a:graphicData uri="http://schemas.openxmlformats.org/drawingml/2006/table">
            <a:tbl>
              <a:tblPr/>
              <a:tblGrid>
                <a:gridCol w="3002824">
                  <a:extLst>
                    <a:ext uri="{9D8B030D-6E8A-4147-A177-3AD203B41FA5}">
                      <a16:colId xmlns:a16="http://schemas.microsoft.com/office/drawing/2014/main" val="39491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Console Output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montrant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le checkout GitHub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46294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D3FA0A9-B06E-4D6E-25ED-2934836DC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487680"/>
            <a:ext cx="8464732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99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C36669F-FA2D-9B8D-7117-6AD0441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626"/>
            <a:ext cx="4515082" cy="4058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872188-FB9D-E5EF-6E59-FDF9AEEEF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231" y="0"/>
            <a:ext cx="3416476" cy="4214949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DFE2DC9-EE0C-F50C-C28F-74C190D6F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049233"/>
              </p:ext>
            </p:extLst>
          </p:nvPr>
        </p:nvGraphicFramePr>
        <p:xfrm>
          <a:off x="135486" y="4194516"/>
          <a:ext cx="4000270" cy="1424940"/>
        </p:xfrm>
        <a:graphic>
          <a:graphicData uri="http://schemas.openxmlformats.org/drawingml/2006/table">
            <a:tbl>
              <a:tblPr/>
              <a:tblGrid>
                <a:gridCol w="4000270">
                  <a:extLst>
                    <a:ext uri="{9D8B030D-6E8A-4147-A177-3AD203B41FA5}">
                      <a16:colId xmlns:a16="http://schemas.microsoft.com/office/drawing/2014/main" val="11597040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1" i="0" dirty="0">
                          <a:effectLst/>
                          <a:latin typeface="Segoe UI" panose="020B0502040204020203" pitchFamily="34" charset="0"/>
                        </a:rPr>
                        <a:t>Étapes </a:t>
                      </a:r>
                      <a:r>
                        <a:rPr lang="en-GB" sz="1050" b="1" i="0" dirty="0" err="1">
                          <a:effectLst/>
                          <a:latin typeface="Segoe UI" panose="020B0502040204020203" pitchFamily="34" charset="0"/>
                        </a:rPr>
                        <a:t>réalisées</a:t>
                      </a:r>
                      <a:endParaRPr lang="en-GB" sz="1050" b="1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✅ Installation et configuration de Jenkins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✅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Création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d'un Pipeline Jenkins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✅ Connexion du Pipeline au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dépôt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GitHub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✅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Récupération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automatique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du code source (Git SCM)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✅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Exécution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automatique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du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fichier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GB" sz="1050" b="0" i="0" dirty="0" err="1">
                          <a:effectLst/>
                          <a:latin typeface="Courier New" panose="02070309020205020404" pitchFamily="49" charset="0"/>
                        </a:rPr>
                        <a:t>Jenkinsfile</a:t>
                      </a:r>
                      <a:endParaRPr lang="en-GB" sz="1050" b="0" i="0" dirty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✅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Vérification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de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l'intégration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Docker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904553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481949F-0FAC-72ED-61BF-60C0618D4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855542"/>
              </p:ext>
            </p:extLst>
          </p:nvPr>
        </p:nvGraphicFramePr>
        <p:xfrm>
          <a:off x="4515082" y="4333853"/>
          <a:ext cx="4000270" cy="853440"/>
        </p:xfrm>
        <a:graphic>
          <a:graphicData uri="http://schemas.openxmlformats.org/drawingml/2006/table">
            <a:tbl>
              <a:tblPr/>
              <a:tblGrid>
                <a:gridCol w="4000270">
                  <a:extLst>
                    <a:ext uri="{9D8B030D-6E8A-4147-A177-3AD203B41FA5}">
                      <a16:colId xmlns:a16="http://schemas.microsoft.com/office/drawing/2014/main" val="4286319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1" i="0" dirty="0">
                          <a:effectLst/>
                          <a:latin typeface="Segoe UI" panose="020B0502040204020203" pitchFamily="34" charset="0"/>
                        </a:rPr>
                        <a:t>Configuration du Pipeline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Type : Pipeline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Source : GitHub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Dépôt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: </a:t>
                      </a:r>
                      <a:r>
                        <a:rPr lang="en-GB" sz="1050" dirty="0"/>
                        <a:t>https://github.com/WAF-DIT/bibliotheque-microservices.git</a:t>
                      </a:r>
                      <a:endParaRPr lang="en-GB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58198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711D368-D109-8358-1D4C-FCABCBAC4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39107"/>
              </p:ext>
            </p:extLst>
          </p:nvPr>
        </p:nvGraphicFramePr>
        <p:xfrm>
          <a:off x="4515082" y="5412626"/>
          <a:ext cx="2663190" cy="1043940"/>
        </p:xfrm>
        <a:graphic>
          <a:graphicData uri="http://schemas.openxmlformats.org/drawingml/2006/table">
            <a:tbl>
              <a:tblPr/>
              <a:tblGrid>
                <a:gridCol w="2663190">
                  <a:extLst>
                    <a:ext uri="{9D8B030D-6E8A-4147-A177-3AD203B41FA5}">
                      <a16:colId xmlns:a16="http://schemas.microsoft.com/office/drawing/2014/main" val="4197564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>
                          <a:effectLst/>
                          <a:latin typeface="Segoe UI" panose="020B0502040204020203" pitchFamily="34" charset="0"/>
                        </a:rPr>
                        <a:t>Le pipeline exécute avec succès 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>
                          <a:effectLst/>
                          <a:latin typeface="Segoe UI" panose="020B0502040204020203" pitchFamily="34" charset="0"/>
                        </a:rPr>
                        <a:t>✅ Checkout du dépôt GitHub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>
                          <a:effectLst/>
                          <a:latin typeface="Segoe UI" panose="020B0502040204020203" pitchFamily="34" charset="0"/>
                        </a:rPr>
                        <a:t>✅ Chargement du Jenkinsfile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>
                          <a:effectLst/>
                          <a:latin typeface="Segoe UI" panose="020B0502040204020203" pitchFamily="34" charset="0"/>
                        </a:rPr>
                        <a:t>✅ Construction des étapes du pipeline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>
                          <a:effectLst/>
                          <a:latin typeface="Segoe UI" panose="020B0502040204020203" pitchFamily="34" charset="0"/>
                        </a:rPr>
                        <a:t>✅ Vérification de l'intégration Docker</a:t>
                      </a:r>
                      <a:endParaRPr lang="en-GB" sz="105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66726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CE0BDFA-8833-3C09-1D5B-7950DC77C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932375"/>
              </p:ext>
            </p:extLst>
          </p:nvPr>
        </p:nvGraphicFramePr>
        <p:xfrm>
          <a:off x="142836" y="5732666"/>
          <a:ext cx="3753120" cy="662940"/>
        </p:xfrm>
        <a:graphic>
          <a:graphicData uri="http://schemas.openxmlformats.org/drawingml/2006/table">
            <a:tbl>
              <a:tblPr/>
              <a:tblGrid>
                <a:gridCol w="3753120">
                  <a:extLst>
                    <a:ext uri="{9D8B030D-6E8A-4147-A177-3AD203B41FA5}">
                      <a16:colId xmlns:a16="http://schemas.microsoft.com/office/drawing/2014/main" val="2543761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1" i="0" dirty="0" err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</a:rPr>
                        <a:t>Difficulté</a:t>
                      </a:r>
                      <a:r>
                        <a:rPr lang="en-GB" sz="1050" b="1" i="0" dirty="0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GB" sz="1050" b="1" i="0" dirty="0" err="1">
                          <a:solidFill>
                            <a:srgbClr val="FF0000"/>
                          </a:solidFill>
                          <a:effectLst/>
                          <a:latin typeface="Segoe UI" panose="020B0502040204020203" pitchFamily="34" charset="0"/>
                        </a:rPr>
                        <a:t>rencontrée</a:t>
                      </a:r>
                      <a:endParaRPr lang="en-GB" sz="1050" b="1" i="0" dirty="0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Lors de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l'exécution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du pipeline, Jenkins a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rencontré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une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contrainte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d'accès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au </a:t>
                      </a:r>
                      <a:r>
                        <a:rPr lang="en-GB" sz="1050" b="0" i="0" dirty="0" err="1">
                          <a:effectLst/>
                          <a:latin typeface="Segoe UI" panose="020B0502040204020203" pitchFamily="34" charset="0"/>
                        </a:rPr>
                        <a:t>moteur</a:t>
                      </a:r>
                      <a:r>
                        <a:rPr lang="en-GB" sz="1050" b="0" i="0" dirty="0">
                          <a:effectLst/>
                          <a:latin typeface="Segoe UI" panose="020B0502040204020203" pitchFamily="34" charset="0"/>
                        </a:rPr>
                        <a:t> Docker :</a:t>
                      </a:r>
                    </a:p>
                  </a:txBody>
                  <a:tcPr>
                    <a:lnL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2427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D659B22-D0DD-58F9-07E2-ACB1DE309BDD}"/>
              </a:ext>
            </a:extLst>
          </p:cNvPr>
          <p:cNvSpPr txBox="1"/>
          <p:nvPr/>
        </p:nvSpPr>
        <p:spPr>
          <a:xfrm>
            <a:off x="59602" y="6385705"/>
            <a:ext cx="40002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000" dirty="0">
                <a:solidFill>
                  <a:srgbClr val="FF0000"/>
                </a:solidFill>
              </a:rPr>
              <a:t>permission denied while trying to connect to the Docker daemon socket</a:t>
            </a:r>
          </a:p>
        </p:txBody>
      </p:sp>
    </p:spTree>
    <p:extLst>
      <p:ext uri="{BB962C8B-B14F-4D97-AF65-F5344CB8AC3E}">
        <p14:creationId xmlns:p14="http://schemas.microsoft.com/office/powerpoint/2010/main" val="26979297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21">
            <a:extLst>
              <a:ext uri="{FF2B5EF4-FFF2-40B4-BE49-F238E27FC236}">
                <a16:creationId xmlns:a16="http://schemas.microsoft.com/office/drawing/2014/main" id="{1F3E53D2-B9BC-1F64-9494-EC66B3C3DA60}"/>
              </a:ext>
            </a:extLst>
          </p:cNvPr>
          <p:cNvSpPr/>
          <p:nvPr/>
        </p:nvSpPr>
        <p:spPr>
          <a:xfrm>
            <a:off x="176344" y="172816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89CD7E8D-9778-B76F-A79B-2EE2AC7B013A}"/>
              </a:ext>
            </a:extLst>
          </p:cNvPr>
          <p:cNvSpPr txBox="1"/>
          <p:nvPr/>
        </p:nvSpPr>
        <p:spPr>
          <a:xfrm>
            <a:off x="176344" y="172816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11</a:t>
            </a:r>
          </a:p>
        </p:txBody>
      </p:sp>
      <p:sp>
        <p:nvSpPr>
          <p:cNvPr id="9" name="TextBox 23">
            <a:extLst>
              <a:ext uri="{FF2B5EF4-FFF2-40B4-BE49-F238E27FC236}">
                <a16:creationId xmlns:a16="http://schemas.microsoft.com/office/drawing/2014/main" id="{8E44C7B3-9CCC-FD7F-76F6-E5081B6DFE7E}"/>
              </a:ext>
            </a:extLst>
          </p:cNvPr>
          <p:cNvSpPr txBox="1"/>
          <p:nvPr/>
        </p:nvSpPr>
        <p:spPr>
          <a:xfrm>
            <a:off x="790544" y="172816"/>
            <a:ext cx="5227079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 err="1"/>
              <a:t>Fonctionnalités</a:t>
            </a:r>
            <a:r>
              <a:rPr lang="en-GB" dirty="0"/>
              <a:t> </a:t>
            </a:r>
            <a:r>
              <a:rPr lang="en-GB" dirty="0" err="1"/>
              <a:t>réalisées</a:t>
            </a:r>
            <a:r>
              <a:rPr lang="en-GB" dirty="0"/>
              <a:t>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6031321-84B5-9176-85C6-0A4CDA14C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429667"/>
              </p:ext>
            </p:extLst>
          </p:nvPr>
        </p:nvGraphicFramePr>
        <p:xfrm>
          <a:off x="386344" y="1348740"/>
          <a:ext cx="7886700" cy="416052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47295010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421588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 err="1"/>
                        <a:t>Fonctionnalité</a:t>
                      </a: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Statut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68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Gestion des Livres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399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Recherche Livres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142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Gestion des Utilisateurs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468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Types Utilisateurs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77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Consultation Profil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46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Emprunt Livre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27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Retour Livre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029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Historique Emprunts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679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Détection Retards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2795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Dashboard Statistiques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447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7094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Docker Compose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216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Jenkins CI/CD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16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466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24">
            <a:extLst>
              <a:ext uri="{FF2B5EF4-FFF2-40B4-BE49-F238E27FC236}">
                <a16:creationId xmlns:a16="http://schemas.microsoft.com/office/drawing/2014/main" id="{5E0BCDCE-498B-3910-C9C8-70A14ECEFFC2}"/>
              </a:ext>
            </a:extLst>
          </p:cNvPr>
          <p:cNvSpPr/>
          <p:nvPr/>
        </p:nvSpPr>
        <p:spPr>
          <a:xfrm>
            <a:off x="280847" y="235466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E1BAFE2E-0DA7-3619-E5E1-179C88850659}"/>
              </a:ext>
            </a:extLst>
          </p:cNvPr>
          <p:cNvSpPr txBox="1"/>
          <p:nvPr/>
        </p:nvSpPr>
        <p:spPr>
          <a:xfrm>
            <a:off x="280847" y="235466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12</a:t>
            </a:r>
          </a:p>
        </p:txBody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35BDF399-77E2-FF9E-564A-F8EF1AF43136}"/>
              </a:ext>
            </a:extLst>
          </p:cNvPr>
          <p:cNvSpPr txBox="1"/>
          <p:nvPr/>
        </p:nvSpPr>
        <p:spPr>
          <a:xfrm>
            <a:off x="895047" y="235466"/>
            <a:ext cx="6420153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 err="1"/>
              <a:t>Résultats</a:t>
            </a:r>
            <a:r>
              <a:rPr lang="en-GB" dirty="0"/>
              <a:t> </a:t>
            </a:r>
            <a:r>
              <a:rPr lang="en-GB" dirty="0" err="1"/>
              <a:t>obtenus</a:t>
            </a:r>
            <a:r>
              <a:rPr lang="en-GB" dirty="0"/>
              <a:t> </a:t>
            </a:r>
          </a:p>
        </p:txBody>
      </p:sp>
      <p:sp>
        <p:nvSpPr>
          <p:cNvPr id="11" name="Shape 13">
            <a:extLst>
              <a:ext uri="{FF2B5EF4-FFF2-40B4-BE49-F238E27FC236}">
                <a16:creationId xmlns:a16="http://schemas.microsoft.com/office/drawing/2014/main" id="{B7ACAE7F-07A8-7E98-C673-503FB954E971}"/>
              </a:ext>
            </a:extLst>
          </p:cNvPr>
          <p:cNvSpPr/>
          <p:nvPr/>
        </p:nvSpPr>
        <p:spPr>
          <a:xfrm>
            <a:off x="315681" y="876154"/>
            <a:ext cx="4918170" cy="1814795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b="1" dirty="0" err="1">
                <a:latin typeface="Segoe UI" panose="020B0502040204020203" pitchFamily="34" charset="0"/>
              </a:rPr>
              <a:t>Résultats</a:t>
            </a:r>
            <a:r>
              <a:rPr lang="en-GB" sz="1050" b="1" dirty="0">
                <a:latin typeface="Segoe UI" panose="020B0502040204020203" pitchFamily="34" charset="0"/>
              </a:rPr>
              <a:t> </a:t>
            </a:r>
            <a:r>
              <a:rPr lang="en-GB" sz="1050" b="1" dirty="0" err="1">
                <a:latin typeface="Segoe UI" panose="020B0502040204020203" pitchFamily="34" charset="0"/>
              </a:rPr>
              <a:t>fonctionnels</a:t>
            </a:r>
            <a:endParaRPr lang="en-GB" sz="105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Gestion </a:t>
            </a:r>
            <a:r>
              <a:rPr lang="en-GB" sz="1050" dirty="0" err="1">
                <a:latin typeface="Segoe UI" panose="020B0502040204020203" pitchFamily="34" charset="0"/>
              </a:rPr>
              <a:t>complète</a:t>
            </a:r>
            <a:r>
              <a:rPr lang="en-GB" sz="1050" dirty="0">
                <a:latin typeface="Segoe UI" panose="020B0502040204020203" pitchFamily="34" charset="0"/>
              </a:rPr>
              <a:t> des livres (</a:t>
            </a:r>
            <a:r>
              <a:rPr lang="en-GB" sz="1050" dirty="0" err="1">
                <a:latin typeface="Segoe UI" panose="020B0502040204020203" pitchFamily="34" charset="0"/>
              </a:rPr>
              <a:t>Ajout</a:t>
            </a:r>
            <a:r>
              <a:rPr lang="en-GB" sz="1050" dirty="0">
                <a:latin typeface="Segoe UI" panose="020B0502040204020203" pitchFamily="34" charset="0"/>
              </a:rPr>
              <a:t>, Modification, Suppression, Recherche)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Gestion des </a:t>
            </a:r>
            <a:r>
              <a:rPr lang="en-GB" sz="1050" dirty="0" err="1">
                <a:latin typeface="Segoe UI" panose="020B0502040204020203" pitchFamily="34" charset="0"/>
              </a:rPr>
              <a:t>utilisateurs</a:t>
            </a:r>
            <a:r>
              <a:rPr lang="en-GB" sz="1050" dirty="0">
                <a:latin typeface="Segoe UI" panose="020B0502040204020203" pitchFamily="34" charset="0"/>
              </a:rPr>
              <a:t> (</a:t>
            </a:r>
            <a:r>
              <a:rPr lang="en-GB" sz="1050" dirty="0" err="1">
                <a:latin typeface="Segoe UI" panose="020B0502040204020203" pitchFamily="34" charset="0"/>
              </a:rPr>
              <a:t>Étudiant</a:t>
            </a:r>
            <a:r>
              <a:rPr lang="en-GB" sz="1050" dirty="0">
                <a:latin typeface="Segoe UI" panose="020B0502040204020203" pitchFamily="34" charset="0"/>
              </a:rPr>
              <a:t>, </a:t>
            </a:r>
            <a:r>
              <a:rPr lang="en-GB" sz="1050" dirty="0" err="1">
                <a:latin typeface="Segoe UI" panose="020B0502040204020203" pitchFamily="34" charset="0"/>
              </a:rPr>
              <a:t>Professeur</a:t>
            </a:r>
            <a:r>
              <a:rPr lang="en-GB" sz="1050" dirty="0">
                <a:latin typeface="Segoe UI" panose="020B0502040204020203" pitchFamily="34" charset="0"/>
              </a:rPr>
              <a:t>, Personnel </a:t>
            </a:r>
            <a:r>
              <a:rPr lang="en-GB" sz="1050" dirty="0" err="1">
                <a:latin typeface="Segoe UI" panose="020B0502040204020203" pitchFamily="34" charset="0"/>
              </a:rPr>
              <a:t>administratif</a:t>
            </a:r>
            <a:r>
              <a:rPr lang="en-GB" sz="1050" dirty="0">
                <a:latin typeface="Segoe UI" panose="020B0502040204020203" pitchFamily="34" charset="0"/>
              </a:rPr>
              <a:t>)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Gestion des </a:t>
            </a:r>
            <a:r>
              <a:rPr lang="en-GB" sz="1050" dirty="0" err="1">
                <a:latin typeface="Segoe UI" panose="020B0502040204020203" pitchFamily="34" charset="0"/>
              </a:rPr>
              <a:t>emprunts</a:t>
            </a:r>
            <a:r>
              <a:rPr lang="en-GB" sz="1050" dirty="0">
                <a:latin typeface="Segoe UI" panose="020B0502040204020203" pitchFamily="34" charset="0"/>
              </a:rPr>
              <a:t> et des retours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</a:t>
            </a:r>
            <a:r>
              <a:rPr lang="en-GB" sz="1050" dirty="0" err="1">
                <a:latin typeface="Segoe UI" panose="020B0502040204020203" pitchFamily="34" charset="0"/>
              </a:rPr>
              <a:t>Historique</a:t>
            </a:r>
            <a:r>
              <a:rPr lang="en-GB" sz="1050" dirty="0">
                <a:latin typeface="Segoe UI" panose="020B0502040204020203" pitchFamily="34" charset="0"/>
              </a:rPr>
              <a:t> des </a:t>
            </a:r>
            <a:r>
              <a:rPr lang="en-GB" sz="1050" dirty="0" err="1">
                <a:latin typeface="Segoe UI" panose="020B0502040204020203" pitchFamily="34" charset="0"/>
              </a:rPr>
              <a:t>emprunts</a:t>
            </a:r>
            <a:endParaRPr lang="en-GB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</a:t>
            </a:r>
            <a:r>
              <a:rPr lang="en-GB" sz="1050" dirty="0" err="1">
                <a:latin typeface="Segoe UI" panose="020B0502040204020203" pitchFamily="34" charset="0"/>
              </a:rPr>
              <a:t>Détection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  <a:r>
              <a:rPr lang="en-GB" sz="1050" dirty="0" err="1">
                <a:latin typeface="Segoe UI" panose="020B0502040204020203" pitchFamily="34" charset="0"/>
              </a:rPr>
              <a:t>automatique</a:t>
            </a:r>
            <a:r>
              <a:rPr lang="en-GB" sz="1050" dirty="0">
                <a:latin typeface="Segoe UI" panose="020B0502040204020203" pitchFamily="34" charset="0"/>
              </a:rPr>
              <a:t> des retards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</a:t>
            </a:r>
            <a:r>
              <a:rPr lang="en-GB" sz="1050" dirty="0" err="1">
                <a:latin typeface="Segoe UI" panose="020B0502040204020203" pitchFamily="34" charset="0"/>
              </a:rPr>
              <a:t>Calcul</a:t>
            </a:r>
            <a:r>
              <a:rPr lang="en-GB" sz="1050" dirty="0">
                <a:latin typeface="Segoe UI" panose="020B0502040204020203" pitchFamily="34" charset="0"/>
              </a:rPr>
              <a:t> des dates </a:t>
            </a:r>
            <a:r>
              <a:rPr lang="en-GB" sz="1050" dirty="0" err="1">
                <a:latin typeface="Segoe UI" panose="020B0502040204020203" pitchFamily="34" charset="0"/>
              </a:rPr>
              <a:t>limites</a:t>
            </a:r>
            <a:r>
              <a:rPr lang="en-GB" sz="1050" dirty="0">
                <a:latin typeface="Segoe UI" panose="020B0502040204020203" pitchFamily="34" charset="0"/>
              </a:rPr>
              <a:t> et des </a:t>
            </a:r>
            <a:r>
              <a:rPr lang="en-GB" sz="1050" dirty="0" err="1">
                <a:latin typeface="Segoe UI" panose="020B0502040204020203" pitchFamily="34" charset="0"/>
              </a:rPr>
              <a:t>jours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  <a:r>
              <a:rPr lang="en-GB" sz="1050" dirty="0" err="1">
                <a:latin typeface="Segoe UI" panose="020B0502040204020203" pitchFamily="34" charset="0"/>
              </a:rPr>
              <a:t>restants</a:t>
            </a:r>
            <a:endParaRPr lang="en-GB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endParaRPr lang="en-GB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70774615-E71F-18A7-DC2B-94116355E8D5}"/>
              </a:ext>
            </a:extLst>
          </p:cNvPr>
          <p:cNvSpPr/>
          <p:nvPr/>
        </p:nvSpPr>
        <p:spPr>
          <a:xfrm>
            <a:off x="5580013" y="876154"/>
            <a:ext cx="3080661" cy="1875755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b="1" dirty="0" err="1">
                <a:latin typeface="Segoe UI" panose="020B0502040204020203" pitchFamily="34" charset="0"/>
              </a:rPr>
              <a:t>Résultats</a:t>
            </a:r>
            <a:r>
              <a:rPr lang="en-GB" sz="1050" b="1" dirty="0">
                <a:latin typeface="Segoe UI" panose="020B0502040204020203" pitchFamily="34" charset="0"/>
              </a:rPr>
              <a:t> techniques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Architecture Microservices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API REST avec </a:t>
            </a:r>
            <a:r>
              <a:rPr lang="en-GB" sz="1050" dirty="0" err="1">
                <a:latin typeface="Segoe UI" panose="020B0502040204020203" pitchFamily="34" charset="0"/>
              </a:rPr>
              <a:t>FastAPI</a:t>
            </a:r>
            <a:endParaRPr lang="en-GB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Base de données PostgreSQL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</a:t>
            </a:r>
            <a:r>
              <a:rPr lang="en-GB" sz="1050" dirty="0" err="1">
                <a:latin typeface="Segoe UI" panose="020B0502040204020203" pitchFamily="34" charset="0"/>
              </a:rPr>
              <a:t>Conteneurisation</a:t>
            </a:r>
            <a:r>
              <a:rPr lang="en-GB" sz="1050" dirty="0">
                <a:latin typeface="Segoe UI" panose="020B0502040204020203" pitchFamily="34" charset="0"/>
              </a:rPr>
              <a:t> avec Docker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Orchestration avec Docker Compose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Pipeline CI/CD </a:t>
            </a:r>
            <a:r>
              <a:rPr lang="en-GB" sz="1050" dirty="0" err="1">
                <a:latin typeface="Segoe UI" panose="020B0502040204020203" pitchFamily="34" charset="0"/>
              </a:rPr>
              <a:t>automatisé</a:t>
            </a:r>
            <a:r>
              <a:rPr lang="en-GB" sz="1050" dirty="0">
                <a:latin typeface="Segoe UI" panose="020B0502040204020203" pitchFamily="34" charset="0"/>
              </a:rPr>
              <a:t> avec Jenkins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✅ Gestion du code source avec GitHub</a:t>
            </a:r>
          </a:p>
          <a:p>
            <a:pPr fontAlgn="t">
              <a:lnSpc>
                <a:spcPts val="1500"/>
              </a:lnSpc>
            </a:pPr>
            <a:endParaRPr lang="en-GB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B32BB807-FFC4-53C4-8167-7766580BC1C7}"/>
              </a:ext>
            </a:extLst>
          </p:cNvPr>
          <p:cNvSpPr/>
          <p:nvPr/>
        </p:nvSpPr>
        <p:spPr>
          <a:xfrm>
            <a:off x="280847" y="3429000"/>
            <a:ext cx="3080661" cy="1514350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sz="1050" b="1" dirty="0" err="1">
                <a:latin typeface="Segoe UI" panose="020B0502040204020203" pitchFamily="34" charset="0"/>
              </a:rPr>
              <a:t>Indicateurs</a:t>
            </a:r>
            <a:r>
              <a:rPr lang="en-GB" sz="1050" b="1" dirty="0">
                <a:latin typeface="Segoe UI" panose="020B0502040204020203" pitchFamily="34" charset="0"/>
              </a:rPr>
              <a:t> du </a:t>
            </a:r>
            <a:r>
              <a:rPr lang="en-GB" sz="1050" b="1" dirty="0" err="1">
                <a:latin typeface="Segoe UI" panose="020B0502040204020203" pitchFamily="34" charset="0"/>
              </a:rPr>
              <a:t>système</a:t>
            </a:r>
            <a:endParaRPr lang="en-GB" sz="105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📚 7 livres </a:t>
            </a:r>
            <a:r>
              <a:rPr lang="en-GB" sz="1050" dirty="0" err="1">
                <a:latin typeface="Segoe UI" panose="020B0502040204020203" pitchFamily="34" charset="0"/>
              </a:rPr>
              <a:t>enregistrés</a:t>
            </a:r>
            <a:endParaRPr lang="en-GB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👥 4 </a:t>
            </a:r>
            <a:r>
              <a:rPr lang="en-GB" sz="1050" dirty="0" err="1">
                <a:latin typeface="Segoe UI" panose="020B0502040204020203" pitchFamily="34" charset="0"/>
              </a:rPr>
              <a:t>utilisateurs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  <a:r>
              <a:rPr lang="en-GB" sz="1050" dirty="0" err="1">
                <a:latin typeface="Segoe UI" panose="020B0502040204020203" pitchFamily="34" charset="0"/>
              </a:rPr>
              <a:t>enregistrés</a:t>
            </a:r>
            <a:endParaRPr lang="en-GB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📖 4 </a:t>
            </a:r>
            <a:r>
              <a:rPr lang="en-GB" sz="1050" dirty="0" err="1">
                <a:latin typeface="Segoe UI" panose="020B0502040204020203" pitchFamily="34" charset="0"/>
              </a:rPr>
              <a:t>emprunts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  <a:r>
              <a:rPr lang="en-GB" sz="1050" dirty="0" err="1">
                <a:latin typeface="Segoe UI" panose="020B0502040204020203" pitchFamily="34" charset="0"/>
              </a:rPr>
              <a:t>enregistrés</a:t>
            </a:r>
            <a:endParaRPr lang="en-GB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050" dirty="0">
                <a:latin typeface="Segoe UI" panose="020B0502040204020203" pitchFamily="34" charset="0"/>
              </a:rPr>
              <a:t>🔴 2 retards </a:t>
            </a:r>
            <a:r>
              <a:rPr lang="en-GB" sz="1050" dirty="0" err="1">
                <a:latin typeface="Segoe UI" panose="020B0502040204020203" pitchFamily="34" charset="0"/>
              </a:rPr>
              <a:t>détectés</a:t>
            </a:r>
            <a:r>
              <a:rPr lang="en-GB" sz="1050" dirty="0">
                <a:latin typeface="Segoe UI" panose="020B0502040204020203" pitchFamily="34" charset="0"/>
              </a:rPr>
              <a:t> </a:t>
            </a:r>
            <a:r>
              <a:rPr lang="en-GB" sz="1050" dirty="0" err="1">
                <a:latin typeface="Segoe UI" panose="020B0502040204020203" pitchFamily="34" charset="0"/>
              </a:rPr>
              <a:t>automatiquement</a:t>
            </a:r>
            <a:endParaRPr lang="en-GB" sz="1050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46397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31F1E-578F-A6F1-3A3C-E03B0E362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7">
            <a:extLst>
              <a:ext uri="{FF2B5EF4-FFF2-40B4-BE49-F238E27FC236}">
                <a16:creationId xmlns:a16="http://schemas.microsoft.com/office/drawing/2014/main" id="{BA2EBB79-81F4-B86E-ABD4-BF25EC28D637}"/>
              </a:ext>
            </a:extLst>
          </p:cNvPr>
          <p:cNvSpPr/>
          <p:nvPr/>
        </p:nvSpPr>
        <p:spPr>
          <a:xfrm>
            <a:off x="219887" y="123946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05F68A6A-DB10-7885-3598-91AECB16BAD5}"/>
              </a:ext>
            </a:extLst>
          </p:cNvPr>
          <p:cNvSpPr txBox="1"/>
          <p:nvPr/>
        </p:nvSpPr>
        <p:spPr>
          <a:xfrm>
            <a:off x="219887" y="123946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13</a:t>
            </a:r>
          </a:p>
        </p:txBody>
      </p:sp>
      <p:sp>
        <p:nvSpPr>
          <p:cNvPr id="10" name="TextBox 29">
            <a:extLst>
              <a:ext uri="{FF2B5EF4-FFF2-40B4-BE49-F238E27FC236}">
                <a16:creationId xmlns:a16="http://schemas.microsoft.com/office/drawing/2014/main" id="{4F734E53-0E97-4BFD-4DED-A6C88F9001D5}"/>
              </a:ext>
            </a:extLst>
          </p:cNvPr>
          <p:cNvSpPr txBox="1"/>
          <p:nvPr/>
        </p:nvSpPr>
        <p:spPr>
          <a:xfrm>
            <a:off x="834087" y="123946"/>
            <a:ext cx="645498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 err="1"/>
              <a:t>Difficultés</a:t>
            </a:r>
            <a:r>
              <a:rPr lang="en-GB" dirty="0"/>
              <a:t> </a:t>
            </a:r>
            <a:r>
              <a:rPr lang="en-GB" dirty="0" err="1"/>
              <a:t>rencontrées</a:t>
            </a:r>
            <a:r>
              <a:rPr lang="en-GB" dirty="0"/>
              <a:t> 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CAE0592-0CC1-960A-9948-3F0E661EC7DF}"/>
              </a:ext>
            </a:extLst>
          </p:cNvPr>
          <p:cNvSpPr/>
          <p:nvPr/>
        </p:nvSpPr>
        <p:spPr>
          <a:xfrm>
            <a:off x="315682" y="876154"/>
            <a:ext cx="3881850" cy="5124051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en-GB" dirty="0"/>
              <a:t>Au </a:t>
            </a:r>
            <a:r>
              <a:rPr lang="en-GB" dirty="0" err="1"/>
              <a:t>cours</a:t>
            </a:r>
            <a:r>
              <a:rPr lang="en-GB" dirty="0"/>
              <a:t> du </a:t>
            </a:r>
            <a:r>
              <a:rPr lang="en-GB" dirty="0" err="1"/>
              <a:t>projet</a:t>
            </a:r>
            <a:r>
              <a:rPr lang="en-GB" dirty="0"/>
              <a:t>, </a:t>
            </a:r>
            <a:r>
              <a:rPr lang="en-GB" dirty="0" err="1"/>
              <a:t>plusieurs</a:t>
            </a:r>
            <a:r>
              <a:rPr lang="en-GB" dirty="0"/>
              <a:t> </a:t>
            </a:r>
            <a:r>
              <a:rPr lang="en-GB" dirty="0" err="1"/>
              <a:t>défis</a:t>
            </a:r>
            <a:r>
              <a:rPr lang="en-GB" dirty="0"/>
              <a:t> </a:t>
            </a:r>
            <a:r>
              <a:rPr lang="en-GB" dirty="0" err="1"/>
              <a:t>ont</a:t>
            </a:r>
            <a:r>
              <a:rPr lang="en-GB" dirty="0"/>
              <a:t>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rencontrés</a:t>
            </a:r>
            <a:r>
              <a:rPr lang="en-GB" dirty="0"/>
              <a:t> :</a:t>
            </a:r>
          </a:p>
          <a:p>
            <a:pPr fontAlgn="t">
              <a:lnSpc>
                <a:spcPts val="1500"/>
              </a:lnSpc>
              <a:buNone/>
            </a:pPr>
            <a:endParaRPr lang="en-GB" dirty="0"/>
          </a:p>
          <a:p>
            <a:pPr fontAlgn="t">
              <a:lnSpc>
                <a:spcPts val="1500"/>
              </a:lnSpc>
              <a:buNone/>
            </a:pPr>
            <a:r>
              <a:rPr lang="en-GB" b="1" dirty="0"/>
              <a:t>Développement</a:t>
            </a:r>
          </a:p>
          <a:p>
            <a:pPr fontAlgn="t">
              <a:lnSpc>
                <a:spcPts val="1500"/>
              </a:lnSpc>
              <a:buNone/>
            </a:pPr>
            <a:endParaRPr lang="en-GB" b="1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/>
              <a:t>Communication entre microservices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/>
              <a:t>Gestion des relations entre données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/>
              <a:t>Synchronisation des services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fontAlgn="t">
              <a:lnSpc>
                <a:spcPts val="1500"/>
              </a:lnSpc>
              <a:buNone/>
            </a:pPr>
            <a:r>
              <a:rPr lang="en-GB" b="1" dirty="0"/>
              <a:t>DevOps</a:t>
            </a:r>
          </a:p>
          <a:p>
            <a:pPr fontAlgn="t">
              <a:lnSpc>
                <a:spcPts val="1500"/>
              </a:lnSpc>
              <a:buNone/>
            </a:pPr>
            <a:endParaRPr lang="en-GB" b="1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/>
              <a:t>Configuration Docker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/>
              <a:t>Gestion des </a:t>
            </a:r>
            <a:r>
              <a:rPr lang="en-GB" dirty="0" err="1"/>
              <a:t>conteneurs</a:t>
            </a:r>
            <a:endParaRPr lang="en-GB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/>
              <a:t>Mise </a:t>
            </a:r>
            <a:r>
              <a:rPr lang="en-GB" dirty="0" err="1"/>
              <a:t>en</a:t>
            </a:r>
            <a:r>
              <a:rPr lang="en-GB" dirty="0"/>
              <a:t> place de Jenkins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fontAlgn="t">
              <a:lnSpc>
                <a:spcPts val="1500"/>
              </a:lnSpc>
              <a:buNone/>
            </a:pPr>
            <a:r>
              <a:rPr lang="en-GB" b="1" dirty="0" err="1"/>
              <a:t>Métier</a:t>
            </a:r>
            <a:endParaRPr lang="en-GB" b="1" dirty="0"/>
          </a:p>
          <a:p>
            <a:pPr fontAlgn="t">
              <a:lnSpc>
                <a:spcPts val="1500"/>
              </a:lnSpc>
              <a:buNone/>
            </a:pPr>
            <a:endParaRPr lang="en-GB" b="1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Calcul</a:t>
            </a:r>
            <a:r>
              <a:rPr lang="en-GB" dirty="0"/>
              <a:t> </a:t>
            </a:r>
            <a:r>
              <a:rPr lang="en-GB" dirty="0" err="1"/>
              <a:t>automatique</a:t>
            </a:r>
            <a:r>
              <a:rPr lang="en-GB" dirty="0"/>
              <a:t> des retards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/>
              <a:t>Gestion des </a:t>
            </a:r>
            <a:r>
              <a:rPr lang="en-GB" dirty="0" err="1"/>
              <a:t>échéances</a:t>
            </a:r>
            <a:endParaRPr lang="en-GB" dirty="0"/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Suivi</a:t>
            </a:r>
            <a:r>
              <a:rPr lang="en-GB" dirty="0"/>
              <a:t> du </a:t>
            </a:r>
            <a:r>
              <a:rPr lang="en-GB" dirty="0" err="1"/>
              <a:t>statut</a:t>
            </a:r>
            <a:r>
              <a:rPr lang="en-GB" dirty="0"/>
              <a:t> des </a:t>
            </a:r>
            <a:r>
              <a:rPr lang="en-GB" dirty="0" err="1"/>
              <a:t>emprunts</a:t>
            </a:r>
            <a:endParaRPr lang="en-GB" dirty="0"/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fontAlgn="t">
              <a:lnSpc>
                <a:spcPts val="1500"/>
              </a:lnSpc>
              <a:buNone/>
            </a:pPr>
            <a:r>
              <a:rPr lang="en-GB" dirty="0" err="1"/>
              <a:t>Chaque</a:t>
            </a:r>
            <a:r>
              <a:rPr lang="en-GB" dirty="0"/>
              <a:t> </a:t>
            </a:r>
            <a:r>
              <a:rPr lang="en-GB" dirty="0" err="1"/>
              <a:t>problème</a:t>
            </a:r>
            <a:r>
              <a:rPr lang="en-GB" dirty="0"/>
              <a:t> a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résolu</a:t>
            </a:r>
            <a:r>
              <a:rPr lang="en-GB" dirty="0"/>
              <a:t> </a:t>
            </a:r>
            <a:r>
              <a:rPr lang="en-GB" dirty="0" err="1"/>
              <a:t>progressivement</a:t>
            </a:r>
            <a:r>
              <a:rPr lang="en-GB" dirty="0"/>
              <a:t> grâce à </a:t>
            </a:r>
            <a:r>
              <a:rPr lang="en-GB" dirty="0" err="1"/>
              <a:t>l'application</a:t>
            </a:r>
            <a:r>
              <a:rPr lang="en-GB" dirty="0"/>
              <a:t> des </a:t>
            </a:r>
            <a:r>
              <a:rPr lang="en-GB" dirty="0" err="1"/>
              <a:t>bonnes</a:t>
            </a:r>
            <a:r>
              <a:rPr lang="en-GB" dirty="0"/>
              <a:t> pratiques DevOps.</a:t>
            </a:r>
          </a:p>
          <a:p>
            <a:pPr fontAlgn="t">
              <a:lnSpc>
                <a:spcPts val="1500"/>
              </a:lnSpc>
            </a:pPr>
            <a:endParaRPr lang="en-GB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6FFB2A8-FE4D-9324-B08C-573A13528CEA}"/>
              </a:ext>
            </a:extLst>
          </p:cNvPr>
          <p:cNvSpPr/>
          <p:nvPr/>
        </p:nvSpPr>
        <p:spPr>
          <a:xfrm>
            <a:off x="4865911" y="876154"/>
            <a:ext cx="3881850" cy="5124051"/>
          </a:xfrm>
          <a:prstGeom prst="roundRect">
            <a:avLst>
              <a:gd name="adj" fmla="val 8000"/>
            </a:avLst>
          </a:prstGeom>
          <a:solidFill>
            <a:srgbClr val="EAF3F3"/>
          </a:solidFill>
          <a:ln>
            <a:noFill/>
          </a:ln>
          <a:effectLst>
            <a:outerShdw blurRad="90000" dist="30000" dir="5400000" rotWithShape="0">
              <a:srgbClr val="1F2A30">
                <a:alpha val="20000"/>
              </a:srgbClr>
            </a:outerShdw>
          </a:effectLst>
        </p:spPr>
        <p:txBody>
          <a:bodyPr/>
          <a:lstStyle/>
          <a:p>
            <a:r>
              <a:rPr lang="en-GB" dirty="0"/>
              <a:t>Le pipeline Jenkins a </a:t>
            </a:r>
            <a:r>
              <a:rPr lang="en-GB" dirty="0" err="1"/>
              <a:t>été</a:t>
            </a:r>
            <a:r>
              <a:rPr lang="en-GB" dirty="0"/>
              <a:t> </a:t>
            </a:r>
            <a:r>
              <a:rPr lang="en-GB" dirty="0" err="1"/>
              <a:t>configuré</a:t>
            </a:r>
            <a:r>
              <a:rPr lang="en-GB" dirty="0"/>
              <a:t> et </a:t>
            </a:r>
            <a:r>
              <a:rPr lang="en-GB" dirty="0" err="1"/>
              <a:t>relié</a:t>
            </a:r>
            <a:r>
              <a:rPr lang="en-GB" dirty="0"/>
              <a:t> au </a:t>
            </a:r>
            <a:r>
              <a:rPr lang="en-GB" dirty="0" err="1"/>
              <a:t>dépôt</a:t>
            </a:r>
            <a:r>
              <a:rPr lang="en-GB" dirty="0"/>
              <a:t> GitHub.</a:t>
            </a:r>
          </a:p>
          <a:p>
            <a:r>
              <a:rPr lang="en-GB" dirty="0"/>
              <a:t>Lors des tests, le </a:t>
            </a:r>
            <a:r>
              <a:rPr lang="en-GB" dirty="0" err="1"/>
              <a:t>conteneur</a:t>
            </a:r>
            <a:r>
              <a:rPr lang="en-GB" dirty="0"/>
              <a:t> Jenkins ne </a:t>
            </a:r>
            <a:r>
              <a:rPr lang="en-GB" dirty="0" err="1"/>
              <a:t>disposait</a:t>
            </a:r>
            <a:r>
              <a:rPr lang="en-GB" dirty="0"/>
              <a:t> pas </a:t>
            </a:r>
            <a:r>
              <a:rPr lang="en-GB" dirty="0" err="1"/>
              <a:t>d'accès</a:t>
            </a:r>
            <a:endParaRPr lang="en-GB" dirty="0"/>
          </a:p>
          <a:p>
            <a:r>
              <a:rPr lang="en-GB" dirty="0"/>
              <a:t>au </a:t>
            </a:r>
            <a:r>
              <a:rPr lang="en-GB" dirty="0" err="1"/>
              <a:t>moteur</a:t>
            </a:r>
            <a:r>
              <a:rPr lang="en-GB" dirty="0"/>
              <a:t> Docker, </a:t>
            </a:r>
            <a:r>
              <a:rPr lang="en-GB" dirty="0" err="1"/>
              <a:t>empêchant</a:t>
            </a:r>
            <a:r>
              <a:rPr lang="en-GB" dirty="0"/>
              <a:t> </a:t>
            </a:r>
            <a:r>
              <a:rPr lang="en-GB" dirty="0" err="1"/>
              <a:t>l'exécution</a:t>
            </a:r>
            <a:r>
              <a:rPr lang="en-GB" dirty="0"/>
              <a:t> des </a:t>
            </a:r>
            <a:r>
              <a:rPr lang="en-GB" dirty="0" err="1"/>
              <a:t>commandes</a:t>
            </a:r>
            <a:endParaRPr lang="en-GB" dirty="0"/>
          </a:p>
          <a:p>
            <a:r>
              <a:rPr lang="en-GB" dirty="0"/>
              <a:t>docker compose build. Cette </a:t>
            </a:r>
            <a:r>
              <a:rPr lang="en-GB" dirty="0" err="1"/>
              <a:t>contrainte</a:t>
            </a:r>
            <a:r>
              <a:rPr lang="en-GB" dirty="0"/>
              <a:t> est </a:t>
            </a:r>
            <a:r>
              <a:rPr lang="en-GB" dirty="0" err="1"/>
              <a:t>liée</a:t>
            </a:r>
            <a:r>
              <a:rPr lang="en-GB" dirty="0"/>
              <a:t> à la</a:t>
            </a:r>
          </a:p>
          <a:p>
            <a:r>
              <a:rPr lang="en-GB" dirty="0"/>
              <a:t>configuration du </a:t>
            </a:r>
            <a:r>
              <a:rPr lang="en-GB" dirty="0" err="1"/>
              <a:t>conteneur</a:t>
            </a:r>
            <a:r>
              <a:rPr lang="en-GB" dirty="0"/>
              <a:t> Jenkins et </a:t>
            </a:r>
            <a:r>
              <a:rPr lang="en-GB" dirty="0" err="1"/>
              <a:t>peut</a:t>
            </a:r>
            <a:r>
              <a:rPr lang="en-GB" dirty="0"/>
              <a:t> </a:t>
            </a:r>
            <a:r>
              <a:rPr lang="en-GB" dirty="0" err="1"/>
              <a:t>être</a:t>
            </a:r>
            <a:r>
              <a:rPr lang="en-GB" dirty="0"/>
              <a:t> </a:t>
            </a:r>
            <a:r>
              <a:rPr lang="en-GB" dirty="0" err="1"/>
              <a:t>résolue</a:t>
            </a:r>
            <a:endParaRPr lang="en-GB" dirty="0"/>
          </a:p>
          <a:p>
            <a:r>
              <a:rPr lang="en-GB" dirty="0"/>
              <a:t>par </a:t>
            </a:r>
            <a:r>
              <a:rPr lang="en-GB" dirty="0" err="1"/>
              <a:t>l'intégration</a:t>
            </a:r>
            <a:r>
              <a:rPr lang="en-GB" dirty="0"/>
              <a:t> de Docker-in-Docker </a:t>
            </a:r>
            <a:r>
              <a:rPr lang="en-GB" dirty="0" err="1"/>
              <a:t>ou</a:t>
            </a:r>
            <a:r>
              <a:rPr lang="en-GB" dirty="0"/>
              <a:t> par le montage</a:t>
            </a:r>
          </a:p>
          <a:p>
            <a:r>
              <a:rPr lang="en-GB" dirty="0"/>
              <a:t>du socket Docker.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3790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2"/>
          <p:cNvSpPr/>
          <p:nvPr/>
        </p:nvSpPr>
        <p:spPr>
          <a:xfrm>
            <a:off x="685800" y="1543543"/>
            <a:ext cx="700000" cy="70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685800" y="1543543"/>
            <a:ext cx="70000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200" b="1" dirty="0">
                <a:solidFill>
                  <a:srgbClr val="FFFFFF"/>
                </a:solidFill>
                <a:latin typeface="Calibri"/>
              </a:rPr>
              <a:t>  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8080" y="1754273"/>
            <a:ext cx="3276800" cy="4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b="1" dirty="0" err="1">
                <a:solidFill>
                  <a:srgbClr val="1F2A30"/>
                </a:solidFill>
                <a:latin typeface="Calibri"/>
              </a:rPr>
              <a:t>Authentification</a:t>
            </a:r>
            <a:r>
              <a:rPr lang="en-GB" b="1" dirty="0">
                <a:solidFill>
                  <a:srgbClr val="1F2A30"/>
                </a:solidFill>
                <a:latin typeface="Calibri"/>
              </a:rPr>
              <a:t> des </a:t>
            </a:r>
            <a:r>
              <a:rPr lang="en-GB" b="1" dirty="0" err="1">
                <a:solidFill>
                  <a:srgbClr val="1F2A30"/>
                </a:solidFill>
                <a:latin typeface="Calibri"/>
              </a:rPr>
              <a:t>utilisateurs</a:t>
            </a:r>
            <a:endParaRPr lang="en-GB" b="1" dirty="0">
              <a:solidFill>
                <a:srgbClr val="1F2A30"/>
              </a:solidFill>
              <a:latin typeface="Calibri"/>
            </a:endParaRPr>
          </a:p>
          <a:p>
            <a:pPr algn="l"/>
            <a:endParaRPr lang="fr-FR" b="1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16" name="Oval 16"/>
          <p:cNvSpPr/>
          <p:nvPr/>
        </p:nvSpPr>
        <p:spPr>
          <a:xfrm>
            <a:off x="668382" y="2370696"/>
            <a:ext cx="700000" cy="70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/>
          <p:cNvSpPr txBox="1"/>
          <p:nvPr/>
        </p:nvSpPr>
        <p:spPr>
          <a:xfrm>
            <a:off x="668382" y="2370696"/>
            <a:ext cx="70000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200" b="1" dirty="0">
                <a:solidFill>
                  <a:srgbClr val="FFFFFF"/>
                </a:solidFill>
                <a:latin typeface="Calibri"/>
              </a:rPr>
              <a:t>  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0403" y="2587088"/>
            <a:ext cx="4391498" cy="4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b="1" dirty="0">
                <a:solidFill>
                  <a:srgbClr val="1F2A30"/>
                </a:solidFill>
                <a:latin typeface="Calibri"/>
              </a:rPr>
              <a:t>Notifications </a:t>
            </a:r>
            <a:r>
              <a:rPr lang="en-GB" b="1" dirty="0" err="1">
                <a:solidFill>
                  <a:srgbClr val="1F2A30"/>
                </a:solidFill>
                <a:latin typeface="Calibri"/>
              </a:rPr>
              <a:t>automatiques</a:t>
            </a:r>
            <a:r>
              <a:rPr lang="en-GB" b="1" dirty="0">
                <a:solidFill>
                  <a:srgbClr val="1F2A30"/>
                </a:solidFill>
                <a:latin typeface="Calibri"/>
              </a:rPr>
              <a:t> </a:t>
            </a:r>
            <a:r>
              <a:rPr lang="en-GB" b="1" dirty="0" err="1">
                <a:solidFill>
                  <a:srgbClr val="1F2A30"/>
                </a:solidFill>
                <a:latin typeface="Calibri"/>
              </a:rPr>
              <a:t>en</a:t>
            </a:r>
            <a:r>
              <a:rPr lang="en-GB" b="1" dirty="0">
                <a:solidFill>
                  <a:srgbClr val="1F2A30"/>
                </a:solidFill>
                <a:latin typeface="Calibri"/>
              </a:rPr>
              <a:t> </a:t>
            </a:r>
            <a:r>
              <a:rPr lang="en-GB" b="1" dirty="0" err="1">
                <a:solidFill>
                  <a:srgbClr val="1F2A30"/>
                </a:solidFill>
                <a:latin typeface="Calibri"/>
              </a:rPr>
              <a:t>cas</a:t>
            </a:r>
            <a:r>
              <a:rPr lang="en-GB" b="1" dirty="0">
                <a:solidFill>
                  <a:srgbClr val="1F2A30"/>
                </a:solidFill>
                <a:latin typeface="Calibri"/>
              </a:rPr>
              <a:t> de retard</a:t>
            </a:r>
          </a:p>
          <a:p>
            <a:pPr algn="l"/>
            <a:endParaRPr lang="fr-FR" sz="1800" b="1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0" name="Oval 20"/>
          <p:cNvSpPr/>
          <p:nvPr/>
        </p:nvSpPr>
        <p:spPr>
          <a:xfrm>
            <a:off x="685800" y="3183543"/>
            <a:ext cx="700000" cy="70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Box 21"/>
          <p:cNvSpPr txBox="1"/>
          <p:nvPr/>
        </p:nvSpPr>
        <p:spPr>
          <a:xfrm>
            <a:off x="685800" y="3183543"/>
            <a:ext cx="70000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200" b="1" dirty="0">
                <a:solidFill>
                  <a:srgbClr val="FFFFFF"/>
                </a:solidFill>
                <a:latin typeface="Calibri"/>
              </a:rPr>
              <a:t>   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8080" y="3403543"/>
            <a:ext cx="3616434" cy="4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b="1" dirty="0">
                <a:solidFill>
                  <a:srgbClr val="1F2A30"/>
                </a:solidFill>
                <a:latin typeface="Calibri"/>
              </a:rPr>
              <a:t>Export PDF et Excel des </a:t>
            </a:r>
            <a:r>
              <a:rPr lang="en-GB" b="1" dirty="0" err="1">
                <a:solidFill>
                  <a:srgbClr val="1F2A30"/>
                </a:solidFill>
                <a:latin typeface="Calibri"/>
              </a:rPr>
              <a:t>statistiques</a:t>
            </a:r>
            <a:endParaRPr lang="en-GB" b="1" dirty="0">
              <a:solidFill>
                <a:srgbClr val="1F2A30"/>
              </a:solidFill>
              <a:latin typeface="Calibri"/>
            </a:endParaRPr>
          </a:p>
          <a:p>
            <a:pPr algn="l"/>
            <a:endParaRPr lang="fr-FR" sz="1800" b="1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4" name="Oval 24"/>
          <p:cNvSpPr/>
          <p:nvPr/>
        </p:nvSpPr>
        <p:spPr>
          <a:xfrm>
            <a:off x="685800" y="4094487"/>
            <a:ext cx="700000" cy="70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Box 25"/>
          <p:cNvSpPr txBox="1"/>
          <p:nvPr/>
        </p:nvSpPr>
        <p:spPr>
          <a:xfrm>
            <a:off x="685800" y="4094487"/>
            <a:ext cx="70000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200" b="1" dirty="0">
                <a:solidFill>
                  <a:srgbClr val="FFFFFF"/>
                </a:solidFill>
                <a:latin typeface="Calibri"/>
              </a:rPr>
              <a:t>   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78080" y="4257715"/>
            <a:ext cx="3494514" cy="4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b="1" dirty="0">
                <a:solidFill>
                  <a:srgbClr val="1F2A30"/>
                </a:solidFill>
                <a:latin typeface="Calibri"/>
              </a:rPr>
              <a:t>Interface </a:t>
            </a:r>
            <a:r>
              <a:rPr lang="en-GB" b="1" dirty="0" err="1">
                <a:solidFill>
                  <a:srgbClr val="1F2A30"/>
                </a:solidFill>
                <a:latin typeface="Calibri"/>
              </a:rPr>
              <a:t>d'administration</a:t>
            </a:r>
            <a:r>
              <a:rPr lang="en-GB" b="1" dirty="0">
                <a:solidFill>
                  <a:srgbClr val="1F2A30"/>
                </a:solidFill>
                <a:latin typeface="Calibri"/>
              </a:rPr>
              <a:t> </a:t>
            </a:r>
            <a:r>
              <a:rPr lang="en-GB" b="1" dirty="0" err="1">
                <a:solidFill>
                  <a:srgbClr val="1F2A30"/>
                </a:solidFill>
                <a:latin typeface="Calibri"/>
              </a:rPr>
              <a:t>avancée</a:t>
            </a:r>
            <a:endParaRPr lang="en-GB" b="1" dirty="0">
              <a:solidFill>
                <a:srgbClr val="1F2A30"/>
              </a:solidFill>
              <a:latin typeface="Calibri"/>
            </a:endParaRPr>
          </a:p>
          <a:p>
            <a:pPr algn="l"/>
            <a:endParaRPr lang="fr-FR" sz="1800" b="1" dirty="0">
              <a:solidFill>
                <a:srgbClr val="1F2A30"/>
              </a:solidFill>
              <a:latin typeface="Calibri"/>
            </a:endParaRPr>
          </a:p>
        </p:txBody>
      </p:sp>
      <p:sp>
        <p:nvSpPr>
          <p:cNvPr id="28" name="Footer"/>
          <p:cNvSpPr/>
          <p:nvPr/>
        </p:nvSpPr>
        <p:spPr>
          <a:xfrm>
            <a:off x="457200" y="6629400"/>
            <a:ext cx="6800000" cy="18288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000">
                <a:solidFill>
                  <a:srgbClr val="5B6B70"/>
                </a:solidFill>
                <a:latin typeface="Calibri"/>
              </a:rPr>
              <a:t>Station météo + alarme - Thème 5 | Master 1 IA - DIT Dakar</a:t>
            </a:r>
          </a:p>
        </p:txBody>
      </p:sp>
      <p:sp>
        <p:nvSpPr>
          <p:cNvPr id="29" name="PageNum"/>
          <p:cNvSpPr/>
          <p:nvPr/>
        </p:nvSpPr>
        <p:spPr>
          <a:xfrm>
            <a:off x="8686800" y="6629400"/>
            <a:ext cx="300000" cy="182880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DDE5C338-0BD7-4683-B3D7-D7753D5E86DF}" type="slidenum">
              <a:rPr lang="fr-FR" sz="1000">
                <a:solidFill>
                  <a:srgbClr val="5B6B70"/>
                </a:solidFill>
                <a:latin typeface="Calibri"/>
              </a:rPr>
              <a:t>26</a:t>
            </a:fld>
            <a:endParaRPr lang="fr-FR" sz="1000">
              <a:solidFill>
                <a:srgbClr val="5B6B70"/>
              </a:solidFill>
              <a:latin typeface="Calibri"/>
            </a:endParaRPr>
          </a:p>
        </p:txBody>
      </p:sp>
      <p:sp>
        <p:nvSpPr>
          <p:cNvPr id="3" name="Oval 30">
            <a:extLst>
              <a:ext uri="{FF2B5EF4-FFF2-40B4-BE49-F238E27FC236}">
                <a16:creationId xmlns:a16="http://schemas.microsoft.com/office/drawing/2014/main" id="{5B9B3640-2CD8-E84B-0F7C-7F3E2F9F20B2}"/>
              </a:ext>
            </a:extLst>
          </p:cNvPr>
          <p:cNvSpPr/>
          <p:nvPr/>
        </p:nvSpPr>
        <p:spPr>
          <a:xfrm>
            <a:off x="202470" y="101677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" name="TextBox 31">
            <a:extLst>
              <a:ext uri="{FF2B5EF4-FFF2-40B4-BE49-F238E27FC236}">
                <a16:creationId xmlns:a16="http://schemas.microsoft.com/office/drawing/2014/main" id="{F07D858B-7C38-5236-ED8F-9973A276651E}"/>
              </a:ext>
            </a:extLst>
          </p:cNvPr>
          <p:cNvSpPr txBox="1"/>
          <p:nvPr/>
        </p:nvSpPr>
        <p:spPr>
          <a:xfrm>
            <a:off x="202470" y="101677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14</a:t>
            </a:r>
          </a:p>
        </p:txBody>
      </p:sp>
      <p:sp>
        <p:nvSpPr>
          <p:cNvPr id="7" name="TextBox 32">
            <a:extLst>
              <a:ext uri="{FF2B5EF4-FFF2-40B4-BE49-F238E27FC236}">
                <a16:creationId xmlns:a16="http://schemas.microsoft.com/office/drawing/2014/main" id="{BC9B543F-2785-22EB-B251-4FA292EFDCA8}"/>
              </a:ext>
            </a:extLst>
          </p:cNvPr>
          <p:cNvSpPr txBox="1"/>
          <p:nvPr/>
        </p:nvSpPr>
        <p:spPr>
          <a:xfrm>
            <a:off x="816670" y="101677"/>
            <a:ext cx="5618964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/>
              <a:t>Perspectives </a:t>
            </a:r>
            <a:r>
              <a:rPr lang="en-GB" dirty="0" err="1"/>
              <a:t>d'amélioration</a:t>
            </a:r>
            <a:r>
              <a:rPr lang="en-GB" dirty="0"/>
              <a:t> 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0F0E5BF1-7461-6663-8316-A88896B15CE8}"/>
              </a:ext>
            </a:extLst>
          </p:cNvPr>
          <p:cNvSpPr txBox="1"/>
          <p:nvPr/>
        </p:nvSpPr>
        <p:spPr>
          <a:xfrm>
            <a:off x="315440" y="895000"/>
            <a:ext cx="3725337" cy="34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pPr fontAlgn="t">
              <a:lnSpc>
                <a:spcPts val="1500"/>
              </a:lnSpc>
              <a:buNone/>
            </a:pPr>
            <a:r>
              <a:rPr lang="en-GB" sz="1050" b="0" dirty="0">
                <a:latin typeface="Segoe UI" panose="020B0502040204020203" pitchFamily="34" charset="0"/>
              </a:rPr>
              <a:t>Les </a:t>
            </a:r>
            <a:r>
              <a:rPr lang="en-GB" sz="1050" b="0" dirty="0" err="1">
                <a:latin typeface="Segoe UI" panose="020B0502040204020203" pitchFamily="34" charset="0"/>
              </a:rPr>
              <a:t>améliorations</a:t>
            </a:r>
            <a:r>
              <a:rPr lang="en-GB" sz="1050" b="0" dirty="0">
                <a:latin typeface="Segoe UI" panose="020B0502040204020203" pitchFamily="34" charset="0"/>
              </a:rPr>
              <a:t> futures </a:t>
            </a:r>
            <a:r>
              <a:rPr lang="en-GB" sz="1050" b="0" dirty="0" err="1">
                <a:latin typeface="Segoe UI" panose="020B0502040204020203" pitchFamily="34" charset="0"/>
              </a:rPr>
              <a:t>pourraient</a:t>
            </a:r>
            <a:r>
              <a:rPr lang="en-GB" sz="1050" b="0" dirty="0">
                <a:latin typeface="Segoe UI" panose="020B0502040204020203" pitchFamily="34" charset="0"/>
              </a:rPr>
              <a:t> </a:t>
            </a:r>
            <a:r>
              <a:rPr lang="en-GB" sz="1050" b="0" dirty="0" err="1">
                <a:latin typeface="Segoe UI" panose="020B0502040204020203" pitchFamily="34" charset="0"/>
              </a:rPr>
              <a:t>inclure</a:t>
            </a:r>
            <a:r>
              <a:rPr lang="en-GB" sz="1050" b="0" dirty="0">
                <a:latin typeface="Segoe UI" panose="020B0502040204020203" pitchFamily="34" charset="0"/>
              </a:rPr>
              <a:t> :</a:t>
            </a:r>
          </a:p>
          <a:p>
            <a:pPr fontAlgn="t">
              <a:lnSpc>
                <a:spcPts val="1500"/>
              </a:lnSpc>
              <a:buNone/>
            </a:pPr>
            <a:endParaRPr lang="en-GB" sz="1050" b="0" dirty="0">
              <a:latin typeface="+mn-lt"/>
            </a:endParaRPr>
          </a:p>
        </p:txBody>
      </p:sp>
      <p:sp>
        <p:nvSpPr>
          <p:cNvPr id="30" name="Oval 24">
            <a:extLst>
              <a:ext uri="{FF2B5EF4-FFF2-40B4-BE49-F238E27FC236}">
                <a16:creationId xmlns:a16="http://schemas.microsoft.com/office/drawing/2014/main" id="{DC8AC082-8898-ED1E-3164-E4F56A565253}"/>
              </a:ext>
            </a:extLst>
          </p:cNvPr>
          <p:cNvSpPr/>
          <p:nvPr/>
        </p:nvSpPr>
        <p:spPr>
          <a:xfrm>
            <a:off x="685800" y="5035431"/>
            <a:ext cx="700000" cy="700000"/>
          </a:xfrm>
          <a:prstGeom prst="ellipse">
            <a:avLst/>
          </a:prstGeom>
          <a:solidFill>
            <a:srgbClr val="0A6E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C6E9F7D2-EF5E-F23F-B8AD-1FCF10C1B3C5}"/>
              </a:ext>
            </a:extLst>
          </p:cNvPr>
          <p:cNvSpPr txBox="1"/>
          <p:nvPr/>
        </p:nvSpPr>
        <p:spPr>
          <a:xfrm>
            <a:off x="685800" y="5035431"/>
            <a:ext cx="700000" cy="70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2200" b="1" dirty="0">
                <a:solidFill>
                  <a:srgbClr val="FFFFFF"/>
                </a:solidFill>
                <a:latin typeface="Calibri"/>
              </a:rPr>
              <a:t>   5</a:t>
            </a:r>
          </a:p>
        </p:txBody>
      </p:sp>
      <p:sp>
        <p:nvSpPr>
          <p:cNvPr id="34" name="TextBox 26">
            <a:extLst>
              <a:ext uri="{FF2B5EF4-FFF2-40B4-BE49-F238E27FC236}">
                <a16:creationId xmlns:a16="http://schemas.microsoft.com/office/drawing/2014/main" id="{30951E69-6730-2E0F-E282-E84AB2025D2E}"/>
              </a:ext>
            </a:extLst>
          </p:cNvPr>
          <p:cNvSpPr txBox="1"/>
          <p:nvPr/>
        </p:nvSpPr>
        <p:spPr>
          <a:xfrm>
            <a:off x="1430403" y="5194998"/>
            <a:ext cx="2148820" cy="450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lang="fr-FR" sz="1800" b="1" dirty="0">
                <a:solidFill>
                  <a:srgbClr val="1F2A30"/>
                </a:solidFill>
                <a:latin typeface="Calibri"/>
              </a:rPr>
              <a:t>Application mobile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2"/>
          <p:cNvSpPr/>
          <p:nvPr/>
        </p:nvSpPr>
        <p:spPr>
          <a:xfrm>
            <a:off x="7772400" y="5486400"/>
            <a:ext cx="1828800" cy="1828800"/>
          </a:xfrm>
          <a:prstGeom prst="ellipse">
            <a:avLst/>
          </a:prstGeom>
          <a:solidFill>
            <a:srgbClr val="26356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685800" y="1599999"/>
            <a:ext cx="7772400" cy="388640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Dans le cadre de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ce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projet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DevOps, nous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avons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développé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une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plateforme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moderne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de gestion de bibliothèque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basée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sur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une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architecture microservices.</a:t>
            </a:r>
          </a:p>
          <a:p>
            <a:pPr fontAlgn="t">
              <a:lnSpc>
                <a:spcPts val="1500"/>
              </a:lnSpc>
              <a:buNone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La solution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développée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répond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entièrement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aux exigences de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l'examen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:</a:t>
            </a:r>
          </a:p>
          <a:p>
            <a:pPr fontAlgn="t">
              <a:lnSpc>
                <a:spcPts val="1500"/>
              </a:lnSpc>
              <a:buNone/>
            </a:pPr>
            <a:endParaRPr lang="en-GB" sz="1400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Architecture Microservices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API REST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PostgreSQL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Docker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Docker Compose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Jenkins CI/CD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Interface Web</a:t>
            </a:r>
          </a:p>
          <a:p>
            <a:pPr marL="285750" indent="-2857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Gestion des retards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Au-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delà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des exigences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initiales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, nous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avons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également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intégré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un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système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intelligent de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suivi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des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emprunts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permettant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le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calcul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des dates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limites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, des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jours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restants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et des retards.</a:t>
            </a:r>
          </a:p>
          <a:p>
            <a:pPr fontAlgn="t">
              <a:lnSpc>
                <a:spcPts val="1500"/>
              </a:lnSpc>
              <a:buNone/>
            </a:pPr>
            <a:endParaRPr lang="en-GB" sz="1400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Ce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projet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nous a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permis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de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mettre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en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pratique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l'ensemble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des concepts DevOps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étudiés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durant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la formation tout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en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développant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une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solution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complète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,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évolutive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et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adaptée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aux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</a:rPr>
              <a:t>besoins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</a:rPr>
              <a:t> du Dakar Institute of Technology.</a:t>
            </a:r>
          </a:p>
        </p:txBody>
      </p:sp>
      <p:sp>
        <p:nvSpPr>
          <p:cNvPr id="17" name="Footer"/>
          <p:cNvSpPr/>
          <p:nvPr/>
        </p:nvSpPr>
        <p:spPr>
          <a:xfrm>
            <a:off x="457200" y="6629400"/>
            <a:ext cx="6800000" cy="182880"/>
          </a:xfrm>
          <a:prstGeom prst="rect">
            <a:avLst/>
          </a:prstGeom>
          <a:noFill/>
        </p:spPr>
        <p:txBody>
          <a:bodyPr/>
          <a:lstStyle/>
          <a:p>
            <a:r>
              <a:rPr lang="fr-FR" sz="1000">
                <a:solidFill>
                  <a:srgbClr val="CADCFC"/>
                </a:solidFill>
                <a:latin typeface="Calibri"/>
              </a:rPr>
              <a:t>Station météo + alarme - Thème 5 | Master 1 IA - DIT Dakar</a:t>
            </a:r>
          </a:p>
        </p:txBody>
      </p:sp>
      <p:sp>
        <p:nvSpPr>
          <p:cNvPr id="18" name="PageNum"/>
          <p:cNvSpPr/>
          <p:nvPr/>
        </p:nvSpPr>
        <p:spPr>
          <a:xfrm>
            <a:off x="8686800" y="6629400"/>
            <a:ext cx="300000" cy="182880"/>
          </a:xfrm>
          <a:prstGeom prst="rect">
            <a:avLst/>
          </a:prstGeom>
          <a:noFill/>
        </p:spPr>
        <p:txBody>
          <a:bodyPr/>
          <a:lstStyle/>
          <a:p>
            <a:pPr algn="r"/>
            <a:fld id="{DDE5C338-0BD7-4683-B3D7-D7753D5E86DF}" type="slidenum">
              <a:rPr lang="fr-FR" sz="1000">
                <a:solidFill>
                  <a:srgbClr val="CADCFC"/>
                </a:solidFill>
                <a:latin typeface="Calibri"/>
              </a:rPr>
              <a:t>27</a:t>
            </a:fld>
            <a:endParaRPr lang="fr-FR" sz="1000">
              <a:solidFill>
                <a:srgbClr val="CADCFC"/>
              </a:solidFill>
              <a:latin typeface="Calibri"/>
            </a:endParaRPr>
          </a:p>
        </p:txBody>
      </p:sp>
      <p:sp>
        <p:nvSpPr>
          <p:cNvPr id="9" name="Oval 30">
            <a:extLst>
              <a:ext uri="{FF2B5EF4-FFF2-40B4-BE49-F238E27FC236}">
                <a16:creationId xmlns:a16="http://schemas.microsoft.com/office/drawing/2014/main" id="{CBC84206-8B74-84B1-A826-FAE8AF04EFC1}"/>
              </a:ext>
            </a:extLst>
          </p:cNvPr>
          <p:cNvSpPr/>
          <p:nvPr/>
        </p:nvSpPr>
        <p:spPr>
          <a:xfrm>
            <a:off x="546008" y="425300"/>
            <a:ext cx="420000" cy="420000"/>
          </a:xfrm>
          <a:prstGeom prst="ellipse">
            <a:avLst/>
          </a:prstGeom>
          <a:solidFill>
            <a:srgbClr val="EAF3F3"/>
          </a:solidFill>
          <a:ln w="19050">
            <a:solidFill>
              <a:srgbClr val="0A6E77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31">
            <a:extLst>
              <a:ext uri="{FF2B5EF4-FFF2-40B4-BE49-F238E27FC236}">
                <a16:creationId xmlns:a16="http://schemas.microsoft.com/office/drawing/2014/main" id="{5DEB3D89-E22A-3190-59A6-ED77BDB6D2B0}"/>
              </a:ext>
            </a:extLst>
          </p:cNvPr>
          <p:cNvSpPr txBox="1"/>
          <p:nvPr/>
        </p:nvSpPr>
        <p:spPr>
          <a:xfrm>
            <a:off x="546008" y="425300"/>
            <a:ext cx="420000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lang="fr-FR" sz="1600" b="1" dirty="0">
                <a:solidFill>
                  <a:srgbClr val="0A6E77"/>
                </a:solidFill>
                <a:latin typeface="Calibri"/>
              </a:rPr>
              <a:t>15</a:t>
            </a:r>
          </a:p>
        </p:txBody>
      </p:sp>
      <p:sp>
        <p:nvSpPr>
          <p:cNvPr id="21" name="TextBox 32">
            <a:extLst>
              <a:ext uri="{FF2B5EF4-FFF2-40B4-BE49-F238E27FC236}">
                <a16:creationId xmlns:a16="http://schemas.microsoft.com/office/drawing/2014/main" id="{9DB51498-6802-FFCF-D609-B257414394EC}"/>
              </a:ext>
            </a:extLst>
          </p:cNvPr>
          <p:cNvSpPr txBox="1"/>
          <p:nvPr/>
        </p:nvSpPr>
        <p:spPr>
          <a:xfrm>
            <a:off x="1160208" y="425300"/>
            <a:ext cx="3089127" cy="42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defPPr>
              <a:defRPr lang="fr-FR"/>
            </a:defPPr>
            <a:lvl1pPr>
              <a:defRPr sz="3200" b="1">
                <a:solidFill>
                  <a:srgbClr val="08464C"/>
                </a:solidFill>
                <a:latin typeface="Calibri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Conclusion</a:t>
            </a:r>
            <a:endParaRPr lang="fr-F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1661</Words>
  <Application>Microsoft Office PowerPoint</Application>
  <PresentationFormat>On-screen Show (4:3)</PresentationFormat>
  <Paragraphs>446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Calibri </vt:lpstr>
      <vt:lpstr>Calibri Light</vt:lpstr>
      <vt:lpstr>Courier New</vt:lpstr>
      <vt:lpstr>Segoe UI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Ibrahima Faye</cp:lastModifiedBy>
  <cp:revision>27</cp:revision>
  <dcterms:created xsi:type="dcterms:W3CDTF">2026-07-04T15:17:59Z</dcterms:created>
  <dcterms:modified xsi:type="dcterms:W3CDTF">2026-07-07T10:45:27Z</dcterms:modified>
</cp:coreProperties>
</file>